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22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zh-CN" altLang="en-US"/>
              <a:t>单击此处编辑母版标题样式</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CC1E7A3-E65A-4826-B8BF-9DAD85738F39}" type="slidenum">
              <a:rPr lang="zh-CN" altLang="en-US" smtClean="0"/>
              <a:t>‹#›</a:t>
            </a:fld>
            <a:endParaRPr lang="zh-CN" alt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4682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616262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zh-CN" altLang="en-US"/>
              <a:t>单击此处编辑母版标题样式</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89657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3795433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337603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2199085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319016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155688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zh-CN" altLang="en-US"/>
              <a:t>单击此处编辑母版标题样式</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3657250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Date Placeholder 2"/>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4058178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zh-CN" altLang="en-US"/>
              <a:t>单击此处编辑母版标题样式</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371709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zh-CN" altLang="en-US"/>
              <a:t>单击此处编辑母版标题样式</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CC1E7A3-E65A-4826-B8BF-9DAD85738F39}" type="slidenum">
              <a:rPr lang="zh-CN" altLang="en-US" smtClean="0"/>
              <a:t>‹#›</a:t>
            </a:fld>
            <a:endParaRPr lang="zh-CN" alt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542603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zh-CN" altLang="en-US"/>
              <a:t>单击此处编辑母版标题样式</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2224074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zh-CN" altLang="en-US"/>
              <a:t>单击此处编辑母版标题样式</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zh-CN" altLang="en-US"/>
              <a:t>单击此处编辑母版文本样式</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CC1E7A3-E65A-4826-B8BF-9DAD85738F39}" type="slidenum">
              <a:rPr lang="zh-CN" altLang="en-US" smtClean="0"/>
              <a:t>‹#›</a:t>
            </a:fld>
            <a:endParaRPr lang="zh-CN" alt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887311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zh-CN" altLang="en-US"/>
              <a:t>单击此处编辑母版标题样式</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zh-CN" altLang="en-US"/>
              <a:t>单击此处编辑母版文本样式</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3101563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1095708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2933954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CFA530D-922C-4A0A-9FAE-B890A6B6E5B2}" type="datetimeFigureOut">
              <a:rPr lang="zh-CN" altLang="en-US" smtClean="0"/>
              <a:t>2026/6/15</a:t>
            </a:fld>
            <a:endParaRPr lang="zh-CN" alt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zh-CN" alt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FCC1E7A3-E65A-4826-B8BF-9DAD85738F39}" type="slidenum">
              <a:rPr lang="zh-CN" altLang="en-US" smtClean="0"/>
              <a:t>‹#›</a:t>
            </a:fld>
            <a:endParaRPr lang="zh-CN" altLang="en-US"/>
          </a:p>
        </p:txBody>
      </p:sp>
    </p:spTree>
    <p:extLst>
      <p:ext uri="{BB962C8B-B14F-4D97-AF65-F5344CB8AC3E}">
        <p14:creationId xmlns:p14="http://schemas.microsoft.com/office/powerpoint/2010/main" val="102811067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39EED-49AA-0F3A-46B0-162BA3B2AB66}"/>
              </a:ext>
            </a:extLst>
          </p:cNvPr>
          <p:cNvSpPr>
            <a:spLocks noGrp="1"/>
          </p:cNvSpPr>
          <p:nvPr>
            <p:ph type="ctrTitle"/>
          </p:nvPr>
        </p:nvSpPr>
        <p:spPr/>
        <p:txBody>
          <a:bodyPr/>
          <a:lstStyle/>
          <a:p>
            <a:r>
              <a:rPr lang="zh-CN" altLang="en-US" dirty="0"/>
              <a:t>数论</a:t>
            </a:r>
            <a:r>
              <a:rPr lang="en-US" altLang="zh-CN" dirty="0"/>
              <a:t>Number theory</a:t>
            </a:r>
            <a:endParaRPr lang="zh-CN" altLang="en-US" dirty="0"/>
          </a:p>
        </p:txBody>
      </p:sp>
      <p:sp>
        <p:nvSpPr>
          <p:cNvPr id="3" name="副标题 2">
            <a:extLst>
              <a:ext uri="{FF2B5EF4-FFF2-40B4-BE49-F238E27FC236}">
                <a16:creationId xmlns:a16="http://schemas.microsoft.com/office/drawing/2014/main" id="{D169F9CF-11DA-0ADB-A6FA-E9A6163C2F49}"/>
              </a:ext>
            </a:extLst>
          </p:cNvPr>
          <p:cNvSpPr>
            <a:spLocks noGrp="1"/>
          </p:cNvSpPr>
          <p:nvPr>
            <p:ph type="subTitle" idx="1"/>
          </p:nvPr>
        </p:nvSpPr>
        <p:spPr/>
        <p:txBody>
          <a:bodyPr/>
          <a:lstStyle/>
          <a:p>
            <a:r>
              <a:rPr lang="zh-CN" altLang="en-US" dirty="0"/>
              <a:t>最大公因数，最小公倍数，进制</a:t>
            </a:r>
          </a:p>
        </p:txBody>
      </p:sp>
    </p:spTree>
    <p:extLst>
      <p:ext uri="{BB962C8B-B14F-4D97-AF65-F5344CB8AC3E}">
        <p14:creationId xmlns:p14="http://schemas.microsoft.com/office/powerpoint/2010/main" val="3528311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2CD718-5821-0095-1360-99B35209AE24}"/>
              </a:ext>
            </a:extLst>
          </p:cNvPr>
          <p:cNvSpPr>
            <a:spLocks noGrp="1"/>
          </p:cNvSpPr>
          <p:nvPr>
            <p:ph type="title"/>
          </p:nvPr>
        </p:nvSpPr>
        <p:spPr/>
        <p:txBody>
          <a:bodyPr/>
          <a:lstStyle/>
          <a:p>
            <a:r>
              <a:rPr lang="zh-CN" altLang="en-US" dirty="0"/>
              <a:t>最小公倍数</a:t>
            </a:r>
          </a:p>
        </p:txBody>
      </p:sp>
      <p:sp>
        <p:nvSpPr>
          <p:cNvPr id="3" name="内容占位符 2">
            <a:extLst>
              <a:ext uri="{FF2B5EF4-FFF2-40B4-BE49-F238E27FC236}">
                <a16:creationId xmlns:a16="http://schemas.microsoft.com/office/drawing/2014/main" id="{555F285B-7DEA-96B8-0EEF-B5309EB79D6E}"/>
              </a:ext>
            </a:extLst>
          </p:cNvPr>
          <p:cNvSpPr>
            <a:spLocks noGrp="1"/>
          </p:cNvSpPr>
          <p:nvPr>
            <p:ph idx="1"/>
          </p:nvPr>
        </p:nvSpPr>
        <p:spPr/>
        <p:txBody>
          <a:bodyPr/>
          <a:lstStyle/>
          <a:p>
            <a:r>
              <a:rPr lang="zh-CN" altLang="en-US" dirty="0"/>
              <a:t>一些数字的最小公倍数</a:t>
            </a:r>
            <a:r>
              <a:rPr lang="en-US" altLang="zh-CN" dirty="0"/>
              <a:t>(Least Common Multiple)</a:t>
            </a:r>
            <a:r>
              <a:rPr lang="zh-CN" altLang="en-US" dirty="0"/>
              <a:t>指的是最小的整数</a:t>
            </a:r>
            <a:r>
              <a:rPr lang="en-US" altLang="zh-CN" dirty="0"/>
              <a:t>N</a:t>
            </a:r>
            <a:r>
              <a:rPr lang="zh-CN" altLang="en-US" dirty="0"/>
              <a:t>使得</a:t>
            </a:r>
            <a:r>
              <a:rPr lang="en-US" altLang="zh-CN" dirty="0"/>
              <a:t>N</a:t>
            </a:r>
            <a:r>
              <a:rPr lang="zh-CN" altLang="en-US" dirty="0"/>
              <a:t>能被所有这些数字整除。</a:t>
            </a:r>
            <a:endParaRPr lang="en-US" altLang="zh-CN" dirty="0"/>
          </a:p>
          <a:p>
            <a:r>
              <a:rPr lang="zh-CN" altLang="en-US" dirty="0"/>
              <a:t>在通分时，我们常求所有分母的最小公倍数，这个也被我们称为最小公分母</a:t>
            </a:r>
            <a:r>
              <a:rPr lang="en-US" altLang="zh-CN" dirty="0"/>
              <a:t>(Least Common Denominator)</a:t>
            </a:r>
            <a:r>
              <a:rPr lang="zh-CN" altLang="en-US" dirty="0"/>
              <a:t>。</a:t>
            </a:r>
          </a:p>
        </p:txBody>
      </p:sp>
    </p:spTree>
    <p:extLst>
      <p:ext uri="{BB962C8B-B14F-4D97-AF65-F5344CB8AC3E}">
        <p14:creationId xmlns:p14="http://schemas.microsoft.com/office/powerpoint/2010/main" val="2680450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1FD7C8-C15F-88AA-3744-4A8D4B31E1D4}"/>
              </a:ext>
            </a:extLst>
          </p:cNvPr>
          <p:cNvSpPr>
            <a:spLocks noGrp="1"/>
          </p:cNvSpPr>
          <p:nvPr>
            <p:ph type="title"/>
          </p:nvPr>
        </p:nvSpPr>
        <p:spPr/>
        <p:txBody>
          <a:bodyPr/>
          <a:lstStyle/>
          <a:p>
            <a:r>
              <a:rPr lang="zh-CN" altLang="en-US" dirty="0"/>
              <a:t>最大公因数</a:t>
            </a:r>
          </a:p>
        </p:txBody>
      </p:sp>
      <p:sp>
        <p:nvSpPr>
          <p:cNvPr id="3" name="内容占位符 2">
            <a:extLst>
              <a:ext uri="{FF2B5EF4-FFF2-40B4-BE49-F238E27FC236}">
                <a16:creationId xmlns:a16="http://schemas.microsoft.com/office/drawing/2014/main" id="{EC1304F4-3FE0-2541-33D4-9E65754FC7B4}"/>
              </a:ext>
            </a:extLst>
          </p:cNvPr>
          <p:cNvSpPr>
            <a:spLocks noGrp="1"/>
          </p:cNvSpPr>
          <p:nvPr>
            <p:ph idx="1"/>
          </p:nvPr>
        </p:nvSpPr>
        <p:spPr/>
        <p:txBody>
          <a:bodyPr/>
          <a:lstStyle/>
          <a:p>
            <a:r>
              <a:rPr lang="zh-CN" altLang="en-US" dirty="0"/>
              <a:t>一些数的最大公因数</a:t>
            </a:r>
            <a:r>
              <a:rPr lang="en-US" altLang="zh-CN" dirty="0"/>
              <a:t>(Greatest Common Divisor)</a:t>
            </a:r>
            <a:r>
              <a:rPr lang="zh-CN" altLang="en-US" dirty="0"/>
              <a:t>是最大的正整数</a:t>
            </a:r>
            <a:r>
              <a:rPr lang="en-US" altLang="zh-CN" dirty="0"/>
              <a:t>N</a:t>
            </a:r>
            <a:r>
              <a:rPr lang="zh-CN" altLang="en-US" dirty="0"/>
              <a:t>使得这些数均能被</a:t>
            </a:r>
            <a:r>
              <a:rPr lang="en-US" altLang="zh-CN" dirty="0"/>
              <a:t>N</a:t>
            </a:r>
            <a:r>
              <a:rPr lang="zh-CN" altLang="en-US" dirty="0"/>
              <a:t>整除。</a:t>
            </a:r>
          </a:p>
        </p:txBody>
      </p:sp>
    </p:spTree>
    <p:extLst>
      <p:ext uri="{BB962C8B-B14F-4D97-AF65-F5344CB8AC3E}">
        <p14:creationId xmlns:p14="http://schemas.microsoft.com/office/powerpoint/2010/main" val="2121462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AFA6A2-8388-9C27-8F20-E2408EC21461}"/>
              </a:ext>
            </a:extLst>
          </p:cNvPr>
          <p:cNvSpPr>
            <a:spLocks noGrp="1"/>
          </p:cNvSpPr>
          <p:nvPr>
            <p:ph type="title"/>
          </p:nvPr>
        </p:nvSpPr>
        <p:spPr/>
        <p:txBody>
          <a:bodyPr/>
          <a:lstStyle/>
          <a:p>
            <a:r>
              <a:rPr lang="zh-CN" altLang="en-US" dirty="0"/>
              <a:t>题目</a:t>
            </a:r>
          </a:p>
        </p:txBody>
      </p:sp>
      <p:sp>
        <p:nvSpPr>
          <p:cNvPr id="3" name="内容占位符 2">
            <a:extLst>
              <a:ext uri="{FF2B5EF4-FFF2-40B4-BE49-F238E27FC236}">
                <a16:creationId xmlns:a16="http://schemas.microsoft.com/office/drawing/2014/main" id="{A180CBF4-D354-8AB3-7B71-68C7B35A73E5}"/>
              </a:ext>
            </a:extLst>
          </p:cNvPr>
          <p:cNvSpPr>
            <a:spLocks noGrp="1"/>
          </p:cNvSpPr>
          <p:nvPr>
            <p:ph idx="1"/>
          </p:nvPr>
        </p:nvSpPr>
        <p:spPr/>
        <p:txBody>
          <a:bodyPr/>
          <a:lstStyle/>
          <a:p>
            <a:r>
              <a:rPr lang="zh-CN" altLang="en-US" dirty="0"/>
              <a:t>两个数</a:t>
            </a:r>
            <a:r>
              <a:rPr lang="en-US" altLang="zh-CN" dirty="0" err="1"/>
              <a:t>a,b</a:t>
            </a:r>
            <a:r>
              <a:rPr lang="zh-CN" altLang="en-US" dirty="0"/>
              <a:t>已知它们的最大公因数是</a:t>
            </a:r>
            <a:r>
              <a:rPr lang="en-US" altLang="zh-CN" dirty="0"/>
              <a:t>39</a:t>
            </a:r>
            <a:r>
              <a:rPr lang="zh-CN" altLang="en-US" dirty="0"/>
              <a:t>，最小公因数是</a:t>
            </a:r>
            <a:r>
              <a:rPr lang="en-US" altLang="zh-CN" dirty="0"/>
              <a:t>1287</a:t>
            </a:r>
            <a:r>
              <a:rPr lang="zh-CN" altLang="en-US" dirty="0"/>
              <a:t>，这两个数的乘积是多少？</a:t>
            </a:r>
          </a:p>
        </p:txBody>
      </p:sp>
    </p:spTree>
    <p:extLst>
      <p:ext uri="{BB962C8B-B14F-4D97-AF65-F5344CB8AC3E}">
        <p14:creationId xmlns:p14="http://schemas.microsoft.com/office/powerpoint/2010/main" val="382589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C23F34-2070-5FFC-83B7-D36F1C2A6F8F}"/>
              </a:ext>
            </a:extLst>
          </p:cNvPr>
          <p:cNvSpPr>
            <a:spLocks noGrp="1"/>
          </p:cNvSpPr>
          <p:nvPr>
            <p:ph type="title"/>
          </p:nvPr>
        </p:nvSpPr>
        <p:spPr/>
        <p:txBody>
          <a:bodyPr/>
          <a:lstStyle/>
          <a:p>
            <a:r>
              <a:rPr lang="zh-CN" altLang="en-US" dirty="0"/>
              <a:t>重要的结论：</a:t>
            </a:r>
            <a:r>
              <a:rPr lang="en-US" altLang="zh-CN" dirty="0"/>
              <a:t>LCM*GCD</a:t>
            </a:r>
            <a:endParaRPr lang="zh-CN" altLang="en-US" dirty="0"/>
          </a:p>
        </p:txBody>
      </p:sp>
      <p:sp>
        <p:nvSpPr>
          <p:cNvPr id="3" name="内容占位符 2">
            <a:extLst>
              <a:ext uri="{FF2B5EF4-FFF2-40B4-BE49-F238E27FC236}">
                <a16:creationId xmlns:a16="http://schemas.microsoft.com/office/drawing/2014/main" id="{97FA92E8-A965-3716-1DCE-CB7A3A416354}"/>
              </a:ext>
            </a:extLst>
          </p:cNvPr>
          <p:cNvSpPr>
            <a:spLocks noGrp="1"/>
          </p:cNvSpPr>
          <p:nvPr>
            <p:ph idx="1"/>
          </p:nvPr>
        </p:nvSpPr>
        <p:spPr/>
        <p:txBody>
          <a:bodyPr/>
          <a:lstStyle/>
          <a:p>
            <a:r>
              <a:rPr lang="zh-CN" altLang="en-US" dirty="0"/>
              <a:t>最大公因数</a:t>
            </a:r>
            <a:r>
              <a:rPr lang="en-US" altLang="zh-CN" dirty="0"/>
              <a:t>*</a:t>
            </a:r>
            <a:r>
              <a:rPr lang="zh-CN" altLang="en-US" dirty="0"/>
              <a:t>最小公倍数是多少？</a:t>
            </a:r>
          </a:p>
        </p:txBody>
      </p:sp>
    </p:spTree>
    <p:extLst>
      <p:ext uri="{BB962C8B-B14F-4D97-AF65-F5344CB8AC3E}">
        <p14:creationId xmlns:p14="http://schemas.microsoft.com/office/powerpoint/2010/main" val="3033435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39BABC-928E-54C1-67DF-4A7877E612CD}"/>
              </a:ext>
            </a:extLst>
          </p:cNvPr>
          <p:cNvSpPr>
            <a:spLocks noGrp="1"/>
          </p:cNvSpPr>
          <p:nvPr>
            <p:ph type="title"/>
          </p:nvPr>
        </p:nvSpPr>
        <p:spPr/>
        <p:txBody>
          <a:bodyPr/>
          <a:lstStyle/>
          <a:p>
            <a:r>
              <a:rPr lang="zh-CN" altLang="en-US" dirty="0"/>
              <a:t>进制</a:t>
            </a:r>
          </a:p>
        </p:txBody>
      </p:sp>
      <p:sp>
        <p:nvSpPr>
          <p:cNvPr id="3" name="内容占位符 2">
            <a:extLst>
              <a:ext uri="{FF2B5EF4-FFF2-40B4-BE49-F238E27FC236}">
                <a16:creationId xmlns:a16="http://schemas.microsoft.com/office/drawing/2014/main" id="{B5C3C997-2428-A9BC-93AA-E0965848632C}"/>
              </a:ext>
            </a:extLst>
          </p:cNvPr>
          <p:cNvSpPr>
            <a:spLocks noGrp="1"/>
          </p:cNvSpPr>
          <p:nvPr>
            <p:ph idx="1"/>
          </p:nvPr>
        </p:nvSpPr>
        <p:spPr/>
        <p:txBody>
          <a:bodyPr/>
          <a:lstStyle/>
          <a:p>
            <a:r>
              <a:rPr lang="zh-CN" altLang="en-US" dirty="0"/>
              <a:t>进制</a:t>
            </a:r>
            <a:r>
              <a:rPr lang="en-US" altLang="zh-CN" dirty="0"/>
              <a:t>(Base)</a:t>
            </a:r>
            <a:r>
              <a:rPr lang="zh-CN" altLang="en-US" dirty="0"/>
              <a:t>指的是针对一个数字，他的每一位代表多少。我们通常使用十进制</a:t>
            </a:r>
            <a:r>
              <a:rPr lang="en-US" altLang="zh-CN" dirty="0"/>
              <a:t>(Decimal)</a:t>
            </a:r>
            <a:r>
              <a:rPr lang="zh-CN" altLang="en-US" dirty="0"/>
              <a:t>，意思是每到</a:t>
            </a:r>
            <a:r>
              <a:rPr lang="en-US" altLang="zh-CN" dirty="0"/>
              <a:t>10</a:t>
            </a:r>
            <a:r>
              <a:rPr lang="zh-CN" altLang="en-US" dirty="0"/>
              <a:t>就进一位。所以我们个位代表的是</a:t>
            </a:r>
            <a:r>
              <a:rPr lang="en-US" altLang="zh-CN" dirty="0"/>
              <a:t>1</a:t>
            </a:r>
            <a:r>
              <a:rPr lang="zh-CN" altLang="en-US" dirty="0"/>
              <a:t>，然后十位是</a:t>
            </a:r>
            <a:r>
              <a:rPr lang="en-US" altLang="zh-CN" dirty="0"/>
              <a:t>10</a:t>
            </a:r>
            <a:r>
              <a:rPr lang="en-US" altLang="zh-CN" baseline="30000" dirty="0"/>
              <a:t>1</a:t>
            </a:r>
            <a:r>
              <a:rPr lang="en-US" altLang="zh-CN" dirty="0"/>
              <a:t>=10</a:t>
            </a:r>
            <a:r>
              <a:rPr lang="zh-CN" altLang="en-US" dirty="0"/>
              <a:t>，百位是</a:t>
            </a:r>
            <a:r>
              <a:rPr lang="en-US" altLang="zh-CN" dirty="0"/>
              <a:t>10</a:t>
            </a:r>
            <a:r>
              <a:rPr lang="en-US" altLang="zh-CN" baseline="30000" dirty="0"/>
              <a:t>2</a:t>
            </a:r>
            <a:r>
              <a:rPr lang="en-US" altLang="zh-CN" dirty="0"/>
              <a:t>=100</a:t>
            </a:r>
            <a:r>
              <a:rPr lang="zh-CN" altLang="en-US" dirty="0"/>
              <a:t>，以此类推。</a:t>
            </a:r>
            <a:endParaRPr lang="en-US" altLang="zh-CN" dirty="0"/>
          </a:p>
          <a:p>
            <a:r>
              <a:rPr lang="zh-CN" altLang="en-US" dirty="0"/>
              <a:t>那么比如众多电脑用的是二进制</a:t>
            </a:r>
            <a:r>
              <a:rPr lang="en-US" altLang="zh-CN" dirty="0"/>
              <a:t>(Binary)</a:t>
            </a:r>
            <a:r>
              <a:rPr lang="zh-CN" altLang="en-US" dirty="0"/>
              <a:t>，那么就是每到</a:t>
            </a:r>
            <a:r>
              <a:rPr lang="en-US" altLang="zh-CN" dirty="0"/>
              <a:t>2</a:t>
            </a:r>
            <a:r>
              <a:rPr lang="zh-CN" altLang="en-US" dirty="0"/>
              <a:t>就进一位，所以自然只会有</a:t>
            </a:r>
            <a:r>
              <a:rPr lang="en-US" altLang="zh-CN" dirty="0"/>
              <a:t>0</a:t>
            </a:r>
            <a:r>
              <a:rPr lang="zh-CN" altLang="en-US" dirty="0"/>
              <a:t>，</a:t>
            </a:r>
            <a:r>
              <a:rPr lang="en-US" altLang="zh-CN" dirty="0"/>
              <a:t>1</a:t>
            </a:r>
            <a:r>
              <a:rPr lang="zh-CN" altLang="en-US" dirty="0"/>
              <a:t>这两个数字出现。例如各位还是</a:t>
            </a:r>
            <a:r>
              <a:rPr lang="en-US" altLang="zh-CN" dirty="0"/>
              <a:t>1</a:t>
            </a:r>
            <a:r>
              <a:rPr lang="zh-CN" altLang="en-US" dirty="0"/>
              <a:t>，十位代表</a:t>
            </a:r>
            <a:r>
              <a:rPr lang="en-US" altLang="zh-CN" dirty="0"/>
              <a:t>2</a:t>
            </a:r>
            <a:r>
              <a:rPr lang="zh-CN" altLang="en-US" dirty="0"/>
              <a:t>，百位代表</a:t>
            </a:r>
            <a:r>
              <a:rPr lang="en-US" altLang="zh-CN" dirty="0"/>
              <a:t>4</a:t>
            </a:r>
            <a:r>
              <a:rPr lang="zh-CN" altLang="en-US" dirty="0"/>
              <a:t>，千位是</a:t>
            </a:r>
            <a:r>
              <a:rPr lang="en-US" altLang="zh-CN" dirty="0"/>
              <a:t>8</a:t>
            </a:r>
            <a:r>
              <a:rPr lang="zh-CN" altLang="en-US" dirty="0"/>
              <a:t>。</a:t>
            </a:r>
            <a:endParaRPr lang="en-US" altLang="zh-CN" dirty="0"/>
          </a:p>
        </p:txBody>
      </p:sp>
    </p:spTree>
    <p:extLst>
      <p:ext uri="{BB962C8B-B14F-4D97-AF65-F5344CB8AC3E}">
        <p14:creationId xmlns:p14="http://schemas.microsoft.com/office/powerpoint/2010/main" val="3223217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79CC85-EA8C-68EF-D732-CCE8FB93FAB3}"/>
              </a:ext>
            </a:extLst>
          </p:cNvPr>
          <p:cNvSpPr>
            <a:spLocks noGrp="1"/>
          </p:cNvSpPr>
          <p:nvPr>
            <p:ph type="title"/>
          </p:nvPr>
        </p:nvSpPr>
        <p:spPr/>
        <p:txBody>
          <a:bodyPr/>
          <a:lstStyle/>
          <a:p>
            <a:r>
              <a:rPr lang="zh-CN" altLang="en-US" dirty="0"/>
              <a:t>题目</a:t>
            </a:r>
          </a:p>
        </p:txBody>
      </p:sp>
      <p:sp>
        <p:nvSpPr>
          <p:cNvPr id="3" name="内容占位符 2">
            <a:extLst>
              <a:ext uri="{FF2B5EF4-FFF2-40B4-BE49-F238E27FC236}">
                <a16:creationId xmlns:a16="http://schemas.microsoft.com/office/drawing/2014/main" id="{087CC8AE-6FE9-4916-F123-88CB85FFBAF9}"/>
              </a:ext>
            </a:extLst>
          </p:cNvPr>
          <p:cNvSpPr>
            <a:spLocks noGrp="1"/>
          </p:cNvSpPr>
          <p:nvPr>
            <p:ph idx="1"/>
          </p:nvPr>
        </p:nvSpPr>
        <p:spPr/>
        <p:txBody>
          <a:bodyPr/>
          <a:lstStyle/>
          <a:p>
            <a:r>
              <a:rPr lang="zh-CN" altLang="en-US" dirty="0"/>
              <a:t>在</a:t>
            </a:r>
            <a:r>
              <a:rPr lang="en-US" altLang="zh-CN" dirty="0"/>
              <a:t>b</a:t>
            </a:r>
            <a:r>
              <a:rPr lang="zh-CN" altLang="en-US" dirty="0"/>
              <a:t>进制下，</a:t>
            </a:r>
            <a:r>
              <a:rPr lang="en-US" altLang="zh-CN" dirty="0"/>
              <a:t>22</a:t>
            </a:r>
            <a:r>
              <a:rPr lang="zh-CN" altLang="en-US" dirty="0"/>
              <a:t>乘以</a:t>
            </a:r>
            <a:r>
              <a:rPr lang="en-US" altLang="zh-CN" dirty="0"/>
              <a:t>33</a:t>
            </a:r>
            <a:r>
              <a:rPr lang="zh-CN" altLang="en-US" dirty="0"/>
              <a:t>等于</a:t>
            </a:r>
            <a:r>
              <a:rPr lang="en-US" altLang="zh-CN" dirty="0"/>
              <a:t>1056</a:t>
            </a:r>
            <a:r>
              <a:rPr lang="zh-CN" altLang="en-US" dirty="0"/>
              <a:t>，请问</a:t>
            </a:r>
            <a:r>
              <a:rPr lang="en-US" altLang="zh-CN" dirty="0"/>
              <a:t>b</a:t>
            </a:r>
            <a:r>
              <a:rPr lang="zh-CN" altLang="en-US" dirty="0"/>
              <a:t>是多少？</a:t>
            </a:r>
          </a:p>
        </p:txBody>
      </p:sp>
    </p:spTree>
    <p:extLst>
      <p:ext uri="{BB962C8B-B14F-4D97-AF65-F5344CB8AC3E}">
        <p14:creationId xmlns:p14="http://schemas.microsoft.com/office/powerpoint/2010/main" val="3461953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48BC8C-35A5-0C84-63E4-7C5E4D4EB8E4}"/>
              </a:ext>
            </a:extLst>
          </p:cNvPr>
          <p:cNvSpPr>
            <a:spLocks noGrp="1"/>
          </p:cNvSpPr>
          <p:nvPr>
            <p:ph type="title"/>
          </p:nvPr>
        </p:nvSpPr>
        <p:spPr/>
        <p:txBody>
          <a:bodyPr/>
          <a:lstStyle/>
          <a:p>
            <a:r>
              <a:rPr lang="zh-CN" altLang="en-US" dirty="0"/>
              <a:t>数组中的特殊值</a:t>
            </a:r>
          </a:p>
        </p:txBody>
      </p:sp>
      <p:sp>
        <p:nvSpPr>
          <p:cNvPr id="3" name="内容占位符 2">
            <a:extLst>
              <a:ext uri="{FF2B5EF4-FFF2-40B4-BE49-F238E27FC236}">
                <a16:creationId xmlns:a16="http://schemas.microsoft.com/office/drawing/2014/main" id="{E3E96565-A141-553F-CD45-33DBF0FC9026}"/>
              </a:ext>
            </a:extLst>
          </p:cNvPr>
          <p:cNvSpPr>
            <a:spLocks noGrp="1"/>
          </p:cNvSpPr>
          <p:nvPr>
            <p:ph idx="1"/>
          </p:nvPr>
        </p:nvSpPr>
        <p:spPr/>
        <p:txBody>
          <a:bodyPr/>
          <a:lstStyle/>
          <a:p>
            <a:r>
              <a:rPr lang="zh-CN" altLang="en-US" dirty="0"/>
              <a:t>针对一组数字，将其从小到大排序好后，有以下四个值：</a:t>
            </a:r>
            <a:endParaRPr lang="en-US" altLang="zh-CN" dirty="0"/>
          </a:p>
          <a:p>
            <a:pPr lvl="1"/>
            <a:r>
              <a:rPr lang="zh-CN" altLang="en-US" dirty="0"/>
              <a:t>中位数</a:t>
            </a:r>
            <a:r>
              <a:rPr lang="en-US" altLang="zh-CN" dirty="0"/>
              <a:t>(Median)</a:t>
            </a:r>
            <a:r>
              <a:rPr lang="zh-CN" altLang="en-US" dirty="0"/>
              <a:t>：指的是排序后处于数组中间的那个数。若没有正当中的数字则取中间的两个数的平均值</a:t>
            </a:r>
            <a:endParaRPr lang="en-US" altLang="zh-CN" dirty="0"/>
          </a:p>
          <a:p>
            <a:pPr lvl="1"/>
            <a:r>
              <a:rPr lang="zh-CN" altLang="en-US" dirty="0"/>
              <a:t>众数</a:t>
            </a:r>
            <a:r>
              <a:rPr lang="en-US" altLang="zh-CN" dirty="0"/>
              <a:t>(Mode)</a:t>
            </a:r>
            <a:r>
              <a:rPr lang="zh-CN" altLang="en-US" dirty="0"/>
              <a:t>：出现次数最多的数字，可以是多个。</a:t>
            </a:r>
            <a:endParaRPr lang="en-US" altLang="zh-CN" dirty="0"/>
          </a:p>
          <a:p>
            <a:pPr lvl="1"/>
            <a:r>
              <a:rPr lang="zh-CN" altLang="en-US" dirty="0"/>
              <a:t>极差</a:t>
            </a:r>
            <a:r>
              <a:rPr lang="en-US" altLang="zh-CN" dirty="0"/>
              <a:t>/</a:t>
            </a:r>
            <a:r>
              <a:rPr lang="zh-CN" altLang="en-US" dirty="0"/>
              <a:t>全距</a:t>
            </a:r>
            <a:r>
              <a:rPr lang="en-US" altLang="zh-CN" dirty="0"/>
              <a:t>(Range)</a:t>
            </a:r>
            <a:r>
              <a:rPr lang="zh-CN" altLang="en-US" dirty="0"/>
              <a:t>：最大的数字减最小的数字。</a:t>
            </a:r>
            <a:endParaRPr lang="en-US" altLang="zh-CN" dirty="0"/>
          </a:p>
          <a:p>
            <a:pPr lvl="1"/>
            <a:r>
              <a:rPr lang="zh-CN" altLang="en-US" dirty="0"/>
              <a:t>平均值</a:t>
            </a:r>
            <a:r>
              <a:rPr lang="en-US" altLang="zh-CN" dirty="0"/>
              <a:t>(Mean)</a:t>
            </a:r>
            <a:r>
              <a:rPr lang="zh-CN" altLang="en-US" dirty="0"/>
              <a:t>：所有数字加起来后除以数字的数量。</a:t>
            </a:r>
          </a:p>
        </p:txBody>
      </p:sp>
    </p:spTree>
    <p:extLst>
      <p:ext uri="{BB962C8B-B14F-4D97-AF65-F5344CB8AC3E}">
        <p14:creationId xmlns:p14="http://schemas.microsoft.com/office/powerpoint/2010/main" val="3702706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AE4CCE-4CCF-072E-1C59-7C1FEC3648BD}"/>
              </a:ext>
            </a:extLst>
          </p:cNvPr>
          <p:cNvSpPr>
            <a:spLocks noGrp="1"/>
          </p:cNvSpPr>
          <p:nvPr>
            <p:ph type="title"/>
          </p:nvPr>
        </p:nvSpPr>
        <p:spPr/>
        <p:txBody>
          <a:bodyPr/>
          <a:lstStyle/>
          <a:p>
            <a:r>
              <a:rPr lang="zh-CN" altLang="en-US" dirty="0"/>
              <a:t>题目</a:t>
            </a:r>
          </a:p>
        </p:txBody>
      </p:sp>
      <p:sp>
        <p:nvSpPr>
          <p:cNvPr id="3" name="内容占位符 2">
            <a:extLst>
              <a:ext uri="{FF2B5EF4-FFF2-40B4-BE49-F238E27FC236}">
                <a16:creationId xmlns:a16="http://schemas.microsoft.com/office/drawing/2014/main" id="{1D9EB65F-3FCA-5862-73A9-6F4794AC9251}"/>
              </a:ext>
            </a:extLst>
          </p:cNvPr>
          <p:cNvSpPr>
            <a:spLocks noGrp="1"/>
          </p:cNvSpPr>
          <p:nvPr>
            <p:ph idx="1"/>
          </p:nvPr>
        </p:nvSpPr>
        <p:spPr/>
        <p:txBody>
          <a:bodyPr/>
          <a:lstStyle/>
          <a:p>
            <a:r>
              <a:rPr lang="zh-CN" altLang="zh-CN" b="1" dirty="0"/>
              <a:t>AMC 8, 2023, Problem 20</a:t>
            </a:r>
            <a:endParaRPr lang="zh-CN" altLang="zh-CN" dirty="0"/>
          </a:p>
          <a:p>
            <a:r>
              <a:rPr lang="zh-CN" altLang="zh-CN" dirty="0"/>
              <a:t>Two integers are inserted into the list 3,3,8,11,28 to double its range. The mode and median remain unchanged. What is the maximum possible sum of two additional numbers?</a:t>
            </a:r>
          </a:p>
        </p:txBody>
      </p:sp>
    </p:spTree>
    <p:extLst>
      <p:ext uri="{BB962C8B-B14F-4D97-AF65-F5344CB8AC3E}">
        <p14:creationId xmlns:p14="http://schemas.microsoft.com/office/powerpoint/2010/main" val="1598246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623CAD-9745-F6A1-B961-267240CE9E03}"/>
              </a:ext>
            </a:extLst>
          </p:cNvPr>
          <p:cNvSpPr>
            <a:spLocks noGrp="1"/>
          </p:cNvSpPr>
          <p:nvPr>
            <p:ph type="title"/>
          </p:nvPr>
        </p:nvSpPr>
        <p:spPr/>
        <p:txBody>
          <a:bodyPr/>
          <a:lstStyle/>
          <a:p>
            <a:r>
              <a:rPr lang="zh-CN" altLang="en-US" dirty="0"/>
              <a:t>综合题目（数论）</a:t>
            </a:r>
          </a:p>
        </p:txBody>
      </p:sp>
      <p:sp>
        <p:nvSpPr>
          <p:cNvPr id="3" name="内容占位符 2">
            <a:extLst>
              <a:ext uri="{FF2B5EF4-FFF2-40B4-BE49-F238E27FC236}">
                <a16:creationId xmlns:a16="http://schemas.microsoft.com/office/drawing/2014/main" id="{FCE8D9C7-8D6D-C26D-642A-9DB18FFA7BE2}"/>
              </a:ext>
            </a:extLst>
          </p:cNvPr>
          <p:cNvSpPr>
            <a:spLocks noGrp="1"/>
          </p:cNvSpPr>
          <p:nvPr>
            <p:ph idx="1"/>
          </p:nvPr>
        </p:nvSpPr>
        <p:spPr/>
        <p:txBody>
          <a:bodyPr/>
          <a:lstStyle/>
          <a:p>
            <a:r>
              <a:rPr lang="zh-CN" altLang="zh-CN" b="1" dirty="0"/>
              <a:t>AMC 8, 2019, Problem 23</a:t>
            </a:r>
            <a:endParaRPr lang="zh-CN" altLang="zh-CN" dirty="0"/>
          </a:p>
          <a:p>
            <a:r>
              <a:rPr lang="zh-CN" altLang="zh-CN" dirty="0"/>
              <a:t>After Euclid High School's last basketball game, it was determined that </a:t>
            </a:r>
            <a:r>
              <a:rPr lang="en-US" altLang="zh-CN" dirty="0"/>
              <a:t>1/4</a:t>
            </a:r>
            <a:r>
              <a:rPr lang="zh-CN" altLang="zh-CN" dirty="0"/>
              <a:t> of the team's points were scored by Alexa and </a:t>
            </a:r>
            <a:r>
              <a:rPr lang="en-US" altLang="zh-CN" dirty="0"/>
              <a:t>2/7 </a:t>
            </a:r>
            <a:r>
              <a:rPr lang="zh-CN" altLang="zh-CN" dirty="0"/>
              <a:t>were scored by Brittany. Chelsea scored </a:t>
            </a:r>
            <a:r>
              <a:rPr lang="en-US" altLang="zh-CN" dirty="0"/>
              <a:t>15</a:t>
            </a:r>
            <a:r>
              <a:rPr lang="zh-CN" altLang="zh-CN" dirty="0"/>
              <a:t> points. None of the other </a:t>
            </a:r>
            <a:r>
              <a:rPr lang="en-US" altLang="zh-CN" dirty="0"/>
              <a:t>7</a:t>
            </a:r>
            <a:r>
              <a:rPr lang="zh-CN" altLang="zh-CN" dirty="0"/>
              <a:t> team members scored more than </a:t>
            </a:r>
            <a:r>
              <a:rPr lang="en-US" altLang="zh-CN" dirty="0"/>
              <a:t>2</a:t>
            </a:r>
            <a:r>
              <a:rPr lang="zh-CN" altLang="zh-CN" dirty="0"/>
              <a:t> points What was the total number of points scored by the other </a:t>
            </a:r>
            <a:r>
              <a:rPr lang="en-US" altLang="zh-CN" dirty="0"/>
              <a:t>7</a:t>
            </a:r>
            <a:r>
              <a:rPr lang="zh-CN" altLang="zh-CN" dirty="0"/>
              <a:t> team members?</a:t>
            </a:r>
          </a:p>
        </p:txBody>
      </p:sp>
      <p:pic>
        <p:nvPicPr>
          <p:cNvPr id="1026" name="Picture 2">
            <a:extLst>
              <a:ext uri="{FF2B5EF4-FFF2-40B4-BE49-F238E27FC236}">
                <a16:creationId xmlns:a16="http://schemas.microsoft.com/office/drawing/2014/main" id="{0F4A35AD-245D-96C5-2E98-E926485A9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 y="-29283025"/>
            <a:ext cx="3038475" cy="98107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7BD10072-C164-8C24-9570-CF8A87795A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 y="-28125738"/>
            <a:ext cx="1733550" cy="7334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BAA81D6-07C3-032A-8A03-AC6B0DD3B2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23995063"/>
            <a:ext cx="1809750" cy="120967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841879F2-B0C2-FF06-F6DC-E72885401E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00" y="-22609175"/>
            <a:ext cx="1790700" cy="12096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C7C64FD-3559-0CF9-5D83-F2F214A2B8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000" y="-21221700"/>
            <a:ext cx="1800225" cy="120015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a:extLst>
              <a:ext uri="{FF2B5EF4-FFF2-40B4-BE49-F238E27FC236}">
                <a16:creationId xmlns:a16="http://schemas.microsoft.com/office/drawing/2014/main" id="{AC4DE684-522B-6F01-9990-04F1F825AF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7000" y="-19850100"/>
            <a:ext cx="1828800" cy="12763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09A4238B-910A-ABA6-0816-A940AA3E6F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000" y="-18402300"/>
            <a:ext cx="1857375" cy="135255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a:extLst>
              <a:ext uri="{FF2B5EF4-FFF2-40B4-BE49-F238E27FC236}">
                <a16:creationId xmlns:a16="http://schemas.microsoft.com/office/drawing/2014/main" id="{0553D80F-9B0F-C844-0F87-B2F0031B7E3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250" y="-16649700"/>
            <a:ext cx="3857625" cy="111442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E0A3249-3610-A72F-FF5E-AF7DAE053AD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7000" y="10020300"/>
            <a:ext cx="5924550" cy="2695575"/>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a:extLst>
              <a:ext uri="{FF2B5EF4-FFF2-40B4-BE49-F238E27FC236}">
                <a16:creationId xmlns:a16="http://schemas.microsoft.com/office/drawing/2014/main" id="{016D66DA-43F2-FC82-EED3-CDA7786207F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7000" y="13052425"/>
            <a:ext cx="2590800" cy="26289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3BCBC8B0-1AB3-BBD7-4FDD-ED9F28BAC51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7000" y="20824825"/>
            <a:ext cx="3619500" cy="286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850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4976CE-9915-4D18-C5D9-0C6E1CDDD7B8}"/>
              </a:ext>
            </a:extLst>
          </p:cNvPr>
          <p:cNvSpPr>
            <a:spLocks noGrp="1"/>
          </p:cNvSpPr>
          <p:nvPr>
            <p:ph type="title"/>
          </p:nvPr>
        </p:nvSpPr>
        <p:spPr/>
        <p:txBody>
          <a:bodyPr/>
          <a:lstStyle/>
          <a:p>
            <a:r>
              <a:rPr lang="zh-CN" altLang="en-US" dirty="0"/>
              <a:t>续</a:t>
            </a:r>
          </a:p>
        </p:txBody>
      </p:sp>
      <p:sp>
        <p:nvSpPr>
          <p:cNvPr id="3" name="内容占位符 2">
            <a:extLst>
              <a:ext uri="{FF2B5EF4-FFF2-40B4-BE49-F238E27FC236}">
                <a16:creationId xmlns:a16="http://schemas.microsoft.com/office/drawing/2014/main" id="{B3FB1C3B-FAB8-E272-DC7F-0B8C2EA7714D}"/>
              </a:ext>
            </a:extLst>
          </p:cNvPr>
          <p:cNvSpPr>
            <a:spLocks noGrp="1"/>
          </p:cNvSpPr>
          <p:nvPr>
            <p:ph idx="1"/>
          </p:nvPr>
        </p:nvSpPr>
        <p:spPr/>
        <p:txBody>
          <a:bodyPr/>
          <a:lstStyle/>
          <a:p>
            <a:r>
              <a:rPr lang="zh-CN" altLang="zh-CN" b="1" dirty="0"/>
              <a:t>AMC 8, 2018, Problem 25</a:t>
            </a:r>
            <a:endParaRPr lang="zh-CN" altLang="zh-CN" dirty="0"/>
          </a:p>
          <a:p>
            <a:r>
              <a:rPr lang="zh-CN" altLang="zh-CN" dirty="0"/>
              <a:t>How many perfect cubes lie between </a:t>
            </a:r>
            <a:r>
              <a:rPr lang="en-US" altLang="zh-CN" dirty="0"/>
              <a:t>2</a:t>
            </a:r>
            <a:r>
              <a:rPr lang="en-US" altLang="zh-CN" baseline="30000" dirty="0"/>
              <a:t>8</a:t>
            </a:r>
            <a:r>
              <a:rPr lang="en-US" altLang="zh-CN" dirty="0"/>
              <a:t>+1 </a:t>
            </a:r>
            <a:r>
              <a:rPr lang="zh-CN" altLang="zh-CN" dirty="0"/>
              <a:t>and </a:t>
            </a:r>
            <a:r>
              <a:rPr lang="en-US" altLang="zh-CN" dirty="0"/>
              <a:t>2</a:t>
            </a:r>
            <a:r>
              <a:rPr lang="en-US" altLang="zh-CN" baseline="30000" dirty="0"/>
              <a:t>18</a:t>
            </a:r>
            <a:r>
              <a:rPr lang="en-US" altLang="zh-CN" dirty="0"/>
              <a:t>+1</a:t>
            </a:r>
            <a:r>
              <a:rPr lang="zh-CN" altLang="zh-CN" dirty="0"/>
              <a:t>, inclusive?</a:t>
            </a:r>
          </a:p>
        </p:txBody>
      </p:sp>
    </p:spTree>
    <p:extLst>
      <p:ext uri="{BB962C8B-B14F-4D97-AF65-F5344CB8AC3E}">
        <p14:creationId xmlns:p14="http://schemas.microsoft.com/office/powerpoint/2010/main" val="2913356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AD3005-ED1D-8C38-9419-6F95DE14E288}"/>
              </a:ext>
            </a:extLst>
          </p:cNvPr>
          <p:cNvSpPr>
            <a:spLocks noGrp="1"/>
          </p:cNvSpPr>
          <p:nvPr>
            <p:ph type="title"/>
          </p:nvPr>
        </p:nvSpPr>
        <p:spPr/>
        <p:txBody>
          <a:bodyPr/>
          <a:lstStyle/>
          <a:p>
            <a:r>
              <a:rPr lang="zh-CN" altLang="en-US" dirty="0"/>
              <a:t>续</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EC0A64F-19CE-8869-DCE7-7084E1D3DAC2}"/>
                  </a:ext>
                </a:extLst>
              </p:cNvPr>
              <p:cNvSpPr>
                <a:spLocks noGrp="1"/>
              </p:cNvSpPr>
              <p:nvPr>
                <p:ph idx="1"/>
              </p:nvPr>
            </p:nvSpPr>
            <p:spPr/>
            <p:txBody>
              <a:bodyPr/>
              <a:lstStyle/>
              <a:p>
                <a:r>
                  <a:rPr lang="zh-CN" altLang="zh-CN" b="1" dirty="0"/>
                  <a:t>AMC 8, 2017, Problem 21</a:t>
                </a:r>
                <a:endParaRPr lang="zh-CN" altLang="zh-CN" dirty="0"/>
              </a:p>
              <a:p>
                <a:r>
                  <a:rPr lang="zh-CN" altLang="zh-CN" dirty="0"/>
                  <a:t>Suppose </a:t>
                </a:r>
                <a:r>
                  <a:rPr lang="en-US" altLang="zh-CN" dirty="0"/>
                  <a:t>a</a:t>
                </a:r>
                <a:r>
                  <a:rPr lang="zh-CN" altLang="zh-CN" dirty="0"/>
                  <a:t>, </a:t>
                </a:r>
                <a:r>
                  <a:rPr lang="en-US" altLang="zh-CN" dirty="0"/>
                  <a:t>b</a:t>
                </a:r>
                <a:r>
                  <a:rPr lang="zh-CN" altLang="zh-CN" dirty="0"/>
                  <a:t>,</a:t>
                </a:r>
                <a:r>
                  <a:rPr lang="en-US" altLang="zh-CN" dirty="0"/>
                  <a:t> </a:t>
                </a:r>
                <a:r>
                  <a:rPr lang="zh-CN" altLang="zh-CN" dirty="0"/>
                  <a:t>and </a:t>
                </a:r>
                <a:r>
                  <a:rPr lang="en-US" altLang="zh-CN" dirty="0"/>
                  <a:t>c</a:t>
                </a:r>
                <a:r>
                  <a:rPr lang="zh-CN" altLang="zh-CN" dirty="0"/>
                  <a:t> are nonzero real numbers, and </a:t>
                </a:r>
                <a:r>
                  <a:rPr lang="en-US" altLang="zh-CN" dirty="0" err="1"/>
                  <a:t>a+b+c</a:t>
                </a:r>
                <a:r>
                  <a:rPr lang="en-US" altLang="zh-CN" dirty="0"/>
                  <a:t>=0</a:t>
                </a:r>
                <a:r>
                  <a:rPr lang="zh-CN" altLang="zh-CN" dirty="0"/>
                  <a:t>. What are the possible value(s) for </a:t>
                </a:r>
                <a14:m>
                  <m:oMath xmlns:m="http://schemas.openxmlformats.org/officeDocument/2006/math">
                    <m:f>
                      <m:fPr>
                        <m:ctrlPr>
                          <a:rPr lang="zh-CN" altLang="en-US" i="1" smtClean="0">
                            <a:latin typeface="Cambria Math" panose="02040503050406030204" pitchFamily="18" charset="0"/>
                          </a:rPr>
                        </m:ctrlPr>
                      </m:fPr>
                      <m:num>
                        <m:r>
                          <a:rPr lang="en-US" altLang="zh-CN" b="0" i="1" smtClean="0">
                            <a:latin typeface="Cambria Math" panose="02040503050406030204" pitchFamily="18" charset="0"/>
                          </a:rPr>
                          <m:t>𝑎</m:t>
                        </m:r>
                      </m:num>
                      <m:den>
                        <m:d>
                          <m:dPr>
                            <m:begChr m:val="|"/>
                            <m:endChr m:val="|"/>
                            <m:ctrlPr>
                              <a:rPr lang="zh-CN" altLang="en-US" i="1" smtClean="0">
                                <a:latin typeface="Cambria Math" panose="02040503050406030204" pitchFamily="18" charset="0"/>
                              </a:rPr>
                            </m:ctrlPr>
                          </m:dPr>
                          <m:e>
                            <m:r>
                              <a:rPr lang="en-US" altLang="zh-CN" b="0" i="1" smtClean="0">
                                <a:latin typeface="Cambria Math" panose="02040503050406030204" pitchFamily="18" charset="0"/>
                              </a:rPr>
                              <m:t>𝑎</m:t>
                            </m:r>
                          </m:e>
                        </m:d>
                      </m:den>
                    </m:f>
                    <m:r>
                      <a:rPr lang="en-US" altLang="zh-CN" b="0" i="1" smtClean="0">
                        <a:latin typeface="Cambria Math" panose="02040503050406030204" pitchFamily="18" charset="0"/>
                      </a:rPr>
                      <m:t>+</m:t>
                    </m:r>
                    <m:f>
                      <m:fPr>
                        <m:ctrlPr>
                          <a:rPr lang="zh-CN" altLang="en-US" i="1">
                            <a:latin typeface="Cambria Math" panose="02040503050406030204" pitchFamily="18" charset="0"/>
                          </a:rPr>
                        </m:ctrlPr>
                      </m:fPr>
                      <m:num>
                        <m:r>
                          <a:rPr lang="en-US" altLang="zh-CN" b="0" i="1" smtClean="0">
                            <a:latin typeface="Cambria Math" panose="02040503050406030204" pitchFamily="18" charset="0"/>
                          </a:rPr>
                          <m:t>𝑏</m:t>
                        </m:r>
                      </m:num>
                      <m:den>
                        <m:d>
                          <m:dPr>
                            <m:begChr m:val="|"/>
                            <m:endChr m:val="|"/>
                            <m:ctrlPr>
                              <a:rPr lang="zh-CN" altLang="en-US" i="1">
                                <a:latin typeface="Cambria Math" panose="02040503050406030204" pitchFamily="18" charset="0"/>
                              </a:rPr>
                            </m:ctrlPr>
                          </m:dPr>
                          <m:e>
                            <m:r>
                              <a:rPr lang="en-US" altLang="zh-CN" b="0" i="1" smtClean="0">
                                <a:latin typeface="Cambria Math" panose="02040503050406030204" pitchFamily="18" charset="0"/>
                              </a:rPr>
                              <m:t>𝑏</m:t>
                            </m:r>
                          </m:e>
                        </m:d>
                      </m:den>
                    </m:f>
                    <m:r>
                      <a:rPr lang="en-US" altLang="zh-CN" b="0" i="1" smtClean="0">
                        <a:latin typeface="Cambria Math" panose="02040503050406030204" pitchFamily="18" charset="0"/>
                      </a:rPr>
                      <m:t>+</m:t>
                    </m:r>
                    <m:f>
                      <m:fPr>
                        <m:ctrlPr>
                          <a:rPr lang="zh-CN" altLang="en-US" i="1">
                            <a:latin typeface="Cambria Math" panose="02040503050406030204" pitchFamily="18" charset="0"/>
                          </a:rPr>
                        </m:ctrlPr>
                      </m:fPr>
                      <m:num>
                        <m:r>
                          <a:rPr lang="en-US" altLang="zh-CN" b="0" i="1" smtClean="0">
                            <a:latin typeface="Cambria Math" panose="02040503050406030204" pitchFamily="18" charset="0"/>
                          </a:rPr>
                          <m:t>𝑐</m:t>
                        </m:r>
                      </m:num>
                      <m:den>
                        <m:d>
                          <m:dPr>
                            <m:begChr m:val="|"/>
                            <m:endChr m:val="|"/>
                            <m:ctrlPr>
                              <a:rPr lang="zh-CN" altLang="en-US" i="1">
                                <a:latin typeface="Cambria Math" panose="02040503050406030204" pitchFamily="18" charset="0"/>
                              </a:rPr>
                            </m:ctrlPr>
                          </m:dPr>
                          <m:e>
                            <m:r>
                              <a:rPr lang="en-US" altLang="zh-CN" b="0" i="1" smtClean="0">
                                <a:latin typeface="Cambria Math" panose="02040503050406030204" pitchFamily="18" charset="0"/>
                              </a:rPr>
                              <m:t>𝑐</m:t>
                            </m:r>
                          </m:e>
                        </m:d>
                      </m:den>
                    </m:f>
                    <m:r>
                      <a:rPr lang="en-US" altLang="zh-CN" b="0" i="1" smtClean="0">
                        <a:latin typeface="Cambria Math" panose="02040503050406030204" pitchFamily="18" charset="0"/>
                      </a:rPr>
                      <m:t>+</m:t>
                    </m:r>
                    <m:f>
                      <m:fPr>
                        <m:ctrlPr>
                          <a:rPr lang="zh-CN" altLang="en-US" i="1">
                            <a:latin typeface="Cambria Math" panose="02040503050406030204" pitchFamily="18" charset="0"/>
                          </a:rPr>
                        </m:ctrlPr>
                      </m:fPr>
                      <m:num>
                        <m:r>
                          <a:rPr lang="en-US" altLang="zh-CN" i="1">
                            <a:latin typeface="Cambria Math" panose="02040503050406030204" pitchFamily="18" charset="0"/>
                          </a:rPr>
                          <m:t>𝑎</m:t>
                        </m:r>
                        <m:r>
                          <a:rPr lang="en-US" altLang="zh-CN" b="0" i="1" smtClean="0">
                            <a:latin typeface="Cambria Math" panose="02040503050406030204" pitchFamily="18" charset="0"/>
                          </a:rPr>
                          <m:t>𝑏𝑐</m:t>
                        </m:r>
                      </m:num>
                      <m:den>
                        <m:d>
                          <m:dPr>
                            <m:begChr m:val="|"/>
                            <m:endChr m:val="|"/>
                            <m:ctrlPr>
                              <a:rPr lang="zh-CN" altLang="en-US" i="1">
                                <a:latin typeface="Cambria Math" panose="02040503050406030204" pitchFamily="18" charset="0"/>
                              </a:rPr>
                            </m:ctrlPr>
                          </m:dPr>
                          <m:e>
                            <m:r>
                              <a:rPr lang="en-US" altLang="zh-CN" i="1">
                                <a:latin typeface="Cambria Math" panose="02040503050406030204" pitchFamily="18" charset="0"/>
                              </a:rPr>
                              <m:t>𝑎</m:t>
                            </m:r>
                            <m:r>
                              <a:rPr lang="en-US" altLang="zh-CN" b="0" i="1" smtClean="0">
                                <a:latin typeface="Cambria Math" panose="02040503050406030204" pitchFamily="18" charset="0"/>
                              </a:rPr>
                              <m:t>𝑏𝑐</m:t>
                            </m:r>
                          </m:e>
                        </m:d>
                      </m:den>
                    </m:f>
                  </m:oMath>
                </a14:m>
                <a:r>
                  <a:rPr lang="zh-CN" altLang="zh-CN" dirty="0"/>
                  <a:t>?</a:t>
                </a:r>
              </a:p>
            </p:txBody>
          </p:sp>
        </mc:Choice>
        <mc:Fallback>
          <p:sp>
            <p:nvSpPr>
              <p:cNvPr id="3" name="内容占位符 2">
                <a:extLst>
                  <a:ext uri="{FF2B5EF4-FFF2-40B4-BE49-F238E27FC236}">
                    <a16:creationId xmlns:a16="http://schemas.microsoft.com/office/drawing/2014/main" id="{8EC0A64F-19CE-8869-DCE7-7084E1D3DAC2}"/>
                  </a:ext>
                </a:extLst>
              </p:cNvPr>
              <p:cNvSpPr>
                <a:spLocks noGrp="1" noRot="1" noChangeAspect="1" noMove="1" noResize="1" noEditPoints="1" noAdjustHandles="1" noChangeArrowheads="1" noChangeShapeType="1" noTextEdit="1"/>
              </p:cNvSpPr>
              <p:nvPr>
                <p:ph idx="1"/>
              </p:nvPr>
            </p:nvSpPr>
            <p:spPr>
              <a:blipFill>
                <a:blip r:embed="rId2"/>
                <a:stretch>
                  <a:fillRect l="-2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41743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D8DA29-D72D-B820-25DE-6CF6AAE778BC}"/>
              </a:ext>
            </a:extLst>
          </p:cNvPr>
          <p:cNvSpPr>
            <a:spLocks noGrp="1"/>
          </p:cNvSpPr>
          <p:nvPr>
            <p:ph type="title"/>
          </p:nvPr>
        </p:nvSpPr>
        <p:spPr/>
        <p:txBody>
          <a:bodyPr/>
          <a:lstStyle/>
          <a:p>
            <a:r>
              <a:rPr lang="zh-CN" altLang="en-US" dirty="0"/>
              <a:t>续（逻辑题）</a:t>
            </a:r>
          </a:p>
        </p:txBody>
      </p:sp>
      <p:sp>
        <p:nvSpPr>
          <p:cNvPr id="3" name="内容占位符 2">
            <a:extLst>
              <a:ext uri="{FF2B5EF4-FFF2-40B4-BE49-F238E27FC236}">
                <a16:creationId xmlns:a16="http://schemas.microsoft.com/office/drawing/2014/main" id="{2F025265-1B10-9F9A-B66B-D3089B47D16C}"/>
              </a:ext>
            </a:extLst>
          </p:cNvPr>
          <p:cNvSpPr>
            <a:spLocks noGrp="1"/>
          </p:cNvSpPr>
          <p:nvPr>
            <p:ph idx="1"/>
          </p:nvPr>
        </p:nvSpPr>
        <p:spPr/>
        <p:txBody>
          <a:bodyPr>
            <a:normAutofit/>
          </a:bodyPr>
          <a:lstStyle/>
          <a:p>
            <a:r>
              <a:rPr lang="en-US" altLang="zh-CN" sz="1800" dirty="0"/>
              <a:t>4. </a:t>
            </a:r>
            <a:r>
              <a:rPr lang="zh-CN" altLang="zh-CN" b="1" dirty="0"/>
              <a:t>AMC 8, 2019, Problem 19</a:t>
            </a:r>
            <a:endParaRPr lang="zh-CN" altLang="zh-CN" dirty="0"/>
          </a:p>
          <a:p>
            <a:r>
              <a:rPr lang="zh-CN" altLang="zh-CN" dirty="0"/>
              <a:t>In a tournament there are six teams that play each other twice. A team earns </a:t>
            </a:r>
            <a:r>
              <a:rPr lang="en-US" altLang="zh-CN" dirty="0"/>
              <a:t>3</a:t>
            </a:r>
            <a:r>
              <a:rPr lang="zh-CN" altLang="zh-CN" dirty="0"/>
              <a:t> points for a win, </a:t>
            </a:r>
            <a:r>
              <a:rPr lang="en-US" altLang="zh-CN" dirty="0"/>
              <a:t>1</a:t>
            </a:r>
            <a:r>
              <a:rPr lang="zh-CN" altLang="zh-CN" dirty="0"/>
              <a:t> point for a draw, and </a:t>
            </a:r>
            <a:r>
              <a:rPr lang="en-US" altLang="zh-CN" dirty="0"/>
              <a:t>0</a:t>
            </a:r>
            <a:r>
              <a:rPr lang="zh-CN" altLang="zh-CN" dirty="0"/>
              <a:t> points for a loss. After all the games have been played it turns out that the top three teams earned the same number of total points. What is the greatest possible number of total points for each of the top three teams?</a:t>
            </a:r>
            <a:endParaRPr lang="en-US" altLang="zh-CN" dirty="0"/>
          </a:p>
          <a:p>
            <a:endParaRPr lang="zh-CN" altLang="zh-CN" dirty="0"/>
          </a:p>
        </p:txBody>
      </p:sp>
    </p:spTree>
    <p:extLst>
      <p:ext uri="{BB962C8B-B14F-4D97-AF65-F5344CB8AC3E}">
        <p14:creationId xmlns:p14="http://schemas.microsoft.com/office/powerpoint/2010/main" val="2407450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5E96B3-CFBF-314E-4B6E-05DAEAA5FB6E}"/>
              </a:ext>
            </a:extLst>
          </p:cNvPr>
          <p:cNvSpPr>
            <a:spLocks noGrp="1"/>
          </p:cNvSpPr>
          <p:nvPr>
            <p:ph type="title"/>
          </p:nvPr>
        </p:nvSpPr>
        <p:spPr>
          <a:xfrm>
            <a:off x="684212" y="5142939"/>
            <a:ext cx="8534400" cy="1507067"/>
          </a:xfrm>
        </p:spPr>
        <p:txBody>
          <a:bodyPr/>
          <a:lstStyle/>
          <a:p>
            <a:r>
              <a:rPr lang="zh-CN" altLang="en-US" dirty="0"/>
              <a:t>课后作业</a:t>
            </a:r>
          </a:p>
        </p:txBody>
      </p:sp>
      <p:sp>
        <p:nvSpPr>
          <p:cNvPr id="3" name="内容占位符 2">
            <a:extLst>
              <a:ext uri="{FF2B5EF4-FFF2-40B4-BE49-F238E27FC236}">
                <a16:creationId xmlns:a16="http://schemas.microsoft.com/office/drawing/2014/main" id="{2C9A2606-CAE8-B9E1-D040-D24078B712AA}"/>
              </a:ext>
            </a:extLst>
          </p:cNvPr>
          <p:cNvSpPr>
            <a:spLocks noGrp="1"/>
          </p:cNvSpPr>
          <p:nvPr>
            <p:ph idx="1"/>
          </p:nvPr>
        </p:nvSpPr>
        <p:spPr>
          <a:xfrm>
            <a:off x="684212" y="685800"/>
            <a:ext cx="8534400" cy="4812102"/>
          </a:xfrm>
        </p:spPr>
        <p:txBody>
          <a:bodyPr>
            <a:normAutofit fontScale="85000" lnSpcReduction="10000"/>
          </a:bodyPr>
          <a:lstStyle/>
          <a:p>
            <a:r>
              <a:rPr lang="en-US" altLang="zh-CN" sz="1800" b="1" dirty="0"/>
              <a:t>1. </a:t>
            </a:r>
            <a:r>
              <a:rPr lang="zh-CN" altLang="zh-CN" sz="1800" b="1" dirty="0"/>
              <a:t>AMC 8, 2016, Problem 20</a:t>
            </a:r>
            <a:endParaRPr lang="zh-CN" altLang="zh-CN" sz="1800" dirty="0"/>
          </a:p>
          <a:p>
            <a:r>
              <a:rPr lang="zh-CN" altLang="zh-CN" sz="1800" dirty="0"/>
              <a:t>The least common multiple of </a:t>
            </a:r>
            <a:r>
              <a:rPr lang="en-US" altLang="zh-CN" sz="1800" dirty="0"/>
              <a:t>a</a:t>
            </a:r>
            <a:r>
              <a:rPr lang="zh-CN" altLang="zh-CN" sz="1800" dirty="0"/>
              <a:t> and </a:t>
            </a:r>
            <a:r>
              <a:rPr lang="en-US" altLang="zh-CN" sz="1800" dirty="0"/>
              <a:t>b</a:t>
            </a:r>
            <a:r>
              <a:rPr lang="zh-CN" altLang="zh-CN" sz="1800" dirty="0"/>
              <a:t> is </a:t>
            </a:r>
            <a:r>
              <a:rPr lang="en-US" altLang="zh-CN" sz="1800" dirty="0"/>
              <a:t>12</a:t>
            </a:r>
            <a:r>
              <a:rPr lang="zh-CN" altLang="zh-CN" sz="1800" dirty="0"/>
              <a:t>, and the least common multiple of </a:t>
            </a:r>
            <a:r>
              <a:rPr lang="en-US" altLang="zh-CN" sz="1800" dirty="0"/>
              <a:t>b</a:t>
            </a:r>
            <a:r>
              <a:rPr lang="zh-CN" altLang="zh-CN" sz="1800" dirty="0"/>
              <a:t> and </a:t>
            </a:r>
            <a:r>
              <a:rPr lang="en-US" altLang="zh-CN" sz="1800" dirty="0"/>
              <a:t>c</a:t>
            </a:r>
            <a:r>
              <a:rPr lang="zh-CN" altLang="zh-CN" sz="1800" dirty="0"/>
              <a:t> is </a:t>
            </a:r>
            <a:r>
              <a:rPr lang="en-US" altLang="zh-CN" sz="1800" dirty="0"/>
              <a:t>15</a:t>
            </a:r>
            <a:r>
              <a:rPr lang="zh-CN" altLang="zh-CN" sz="1800" dirty="0"/>
              <a:t>. What is the least possible value of the least common multiple of </a:t>
            </a:r>
            <a:r>
              <a:rPr lang="en-US" altLang="zh-CN" sz="1800" dirty="0"/>
              <a:t>a</a:t>
            </a:r>
            <a:r>
              <a:rPr lang="zh-CN" altLang="zh-CN" sz="1800" dirty="0"/>
              <a:t> and </a:t>
            </a:r>
            <a:r>
              <a:rPr lang="en-US" altLang="zh-CN" sz="1800" dirty="0"/>
              <a:t>c</a:t>
            </a:r>
            <a:r>
              <a:rPr lang="zh-CN" altLang="zh-CN" sz="1800" dirty="0"/>
              <a:t>?</a:t>
            </a:r>
            <a:endParaRPr lang="en-US" altLang="zh-CN" sz="1800" dirty="0"/>
          </a:p>
          <a:p>
            <a:r>
              <a:rPr lang="en-US" altLang="zh-CN" sz="1800" dirty="0"/>
              <a:t>2. </a:t>
            </a:r>
            <a:r>
              <a:rPr lang="zh-CN" altLang="zh-CN" sz="1800" b="1" dirty="0"/>
              <a:t>AMC 8, 2016, Problem 24</a:t>
            </a:r>
            <a:endParaRPr lang="zh-CN" altLang="zh-CN" sz="1800" dirty="0"/>
          </a:p>
          <a:p>
            <a:r>
              <a:rPr lang="zh-CN" altLang="zh-CN" sz="1800" dirty="0"/>
              <a:t>The digits </a:t>
            </a:r>
            <a:r>
              <a:rPr lang="en-US" altLang="zh-CN" sz="1800" dirty="0"/>
              <a:t>1</a:t>
            </a:r>
            <a:r>
              <a:rPr lang="zh-CN" altLang="zh-CN" sz="1800" dirty="0"/>
              <a:t>, </a:t>
            </a:r>
            <a:r>
              <a:rPr lang="en-US" altLang="zh-CN" sz="1800" dirty="0"/>
              <a:t>2</a:t>
            </a:r>
            <a:r>
              <a:rPr lang="zh-CN" altLang="zh-CN" sz="1800" dirty="0"/>
              <a:t>, </a:t>
            </a:r>
            <a:r>
              <a:rPr lang="en-US" altLang="zh-CN" sz="1800" dirty="0"/>
              <a:t>3</a:t>
            </a:r>
            <a:r>
              <a:rPr lang="zh-CN" altLang="zh-CN" sz="1800" dirty="0"/>
              <a:t>, </a:t>
            </a:r>
            <a:r>
              <a:rPr lang="en-US" altLang="zh-CN" sz="1800" dirty="0"/>
              <a:t>4</a:t>
            </a:r>
            <a:r>
              <a:rPr lang="zh-CN" altLang="zh-CN" sz="1800" dirty="0"/>
              <a:t>, and </a:t>
            </a:r>
            <a:r>
              <a:rPr lang="en-US" altLang="zh-CN" sz="1800" dirty="0"/>
              <a:t>5</a:t>
            </a:r>
            <a:r>
              <a:rPr lang="zh-CN" altLang="zh-CN" sz="1800" dirty="0"/>
              <a:t> are each used once to write a five-digit number </a:t>
            </a:r>
            <a:r>
              <a:rPr lang="en-US" altLang="zh-CN" sz="1800" dirty="0"/>
              <a:t>PQRST</a:t>
            </a:r>
            <a:r>
              <a:rPr lang="zh-CN" altLang="zh-CN" sz="1800" dirty="0"/>
              <a:t>. The three-digit number </a:t>
            </a:r>
            <a:r>
              <a:rPr lang="en-US" altLang="zh-CN" sz="1800" dirty="0"/>
              <a:t>PQR</a:t>
            </a:r>
            <a:r>
              <a:rPr lang="zh-CN" altLang="zh-CN" sz="1800" dirty="0"/>
              <a:t> is divisible by </a:t>
            </a:r>
            <a:r>
              <a:rPr lang="en-US" altLang="zh-CN" sz="1800" dirty="0"/>
              <a:t>4</a:t>
            </a:r>
            <a:r>
              <a:rPr lang="zh-CN" altLang="zh-CN" sz="1800" dirty="0"/>
              <a:t>, the three-digit number </a:t>
            </a:r>
            <a:r>
              <a:rPr lang="en-US" altLang="zh-CN" sz="1800" dirty="0"/>
              <a:t>QRS</a:t>
            </a:r>
            <a:r>
              <a:rPr lang="zh-CN" altLang="zh-CN" sz="1800" dirty="0"/>
              <a:t> is divisible by </a:t>
            </a:r>
            <a:r>
              <a:rPr lang="en-US" altLang="zh-CN" sz="1800" dirty="0"/>
              <a:t>5</a:t>
            </a:r>
            <a:r>
              <a:rPr lang="zh-CN" altLang="zh-CN" sz="1800" dirty="0"/>
              <a:t>, and the three-digit number </a:t>
            </a:r>
            <a:r>
              <a:rPr lang="en-US" altLang="zh-CN" sz="1800" dirty="0"/>
              <a:t>RST</a:t>
            </a:r>
            <a:r>
              <a:rPr lang="zh-CN" altLang="zh-CN" sz="1800" dirty="0"/>
              <a:t> is divisible by </a:t>
            </a:r>
            <a:r>
              <a:rPr lang="en-US" altLang="zh-CN" sz="1800" dirty="0"/>
              <a:t>3</a:t>
            </a:r>
            <a:r>
              <a:rPr lang="zh-CN" altLang="zh-CN" sz="1800" dirty="0"/>
              <a:t>. What is </a:t>
            </a:r>
            <a:r>
              <a:rPr lang="en-US" altLang="zh-CN" sz="1800" dirty="0"/>
              <a:t>P</a:t>
            </a:r>
            <a:r>
              <a:rPr lang="zh-CN" altLang="zh-CN" sz="1800" dirty="0"/>
              <a:t>?</a:t>
            </a:r>
            <a:endParaRPr lang="en-US" altLang="zh-CN" sz="1800" dirty="0"/>
          </a:p>
          <a:p>
            <a:r>
              <a:rPr lang="en-US" altLang="zh-CN" sz="1800" dirty="0"/>
              <a:t>3. </a:t>
            </a:r>
            <a:r>
              <a:rPr lang="zh-CN" altLang="zh-CN" b="1" dirty="0"/>
              <a:t>AMC 8, 2018, Problem 21</a:t>
            </a:r>
            <a:endParaRPr lang="zh-CN" altLang="zh-CN" dirty="0"/>
          </a:p>
          <a:p>
            <a:r>
              <a:rPr lang="zh-CN" altLang="zh-CN" dirty="0"/>
              <a:t>How many positive three-digit integers have a remainder of </a:t>
            </a:r>
            <a:r>
              <a:rPr lang="en-US" altLang="zh-CN" dirty="0"/>
              <a:t>2</a:t>
            </a:r>
            <a:r>
              <a:rPr lang="zh-CN" altLang="zh-CN" dirty="0"/>
              <a:t> when divided by </a:t>
            </a:r>
            <a:r>
              <a:rPr lang="en-US" altLang="zh-CN" dirty="0"/>
              <a:t>6</a:t>
            </a:r>
            <a:r>
              <a:rPr lang="zh-CN" altLang="zh-CN" dirty="0"/>
              <a:t>, a remainder of </a:t>
            </a:r>
            <a:r>
              <a:rPr lang="en-US" altLang="zh-CN" dirty="0"/>
              <a:t>5</a:t>
            </a:r>
            <a:r>
              <a:rPr lang="zh-CN" altLang="zh-CN" dirty="0"/>
              <a:t> when divided by </a:t>
            </a:r>
            <a:r>
              <a:rPr lang="en-US" altLang="zh-CN" dirty="0"/>
              <a:t>9</a:t>
            </a:r>
            <a:r>
              <a:rPr lang="zh-CN" altLang="zh-CN" dirty="0"/>
              <a:t>, and a remainder of </a:t>
            </a:r>
            <a:r>
              <a:rPr lang="en-US" altLang="zh-CN" dirty="0"/>
              <a:t>7</a:t>
            </a:r>
            <a:r>
              <a:rPr lang="zh-CN" altLang="zh-CN" dirty="0"/>
              <a:t> when divided by </a:t>
            </a:r>
            <a:r>
              <a:rPr lang="en-US" altLang="zh-CN" dirty="0"/>
              <a:t>11</a:t>
            </a:r>
            <a:r>
              <a:rPr lang="zh-CN" altLang="zh-CN" dirty="0"/>
              <a:t>?</a:t>
            </a:r>
          </a:p>
          <a:p>
            <a:r>
              <a:rPr lang="en-US" altLang="zh-CN" sz="1800" dirty="0"/>
              <a:t>4. </a:t>
            </a:r>
            <a:r>
              <a:rPr lang="zh-CN" altLang="zh-CN" sz="1800" b="1" dirty="0"/>
              <a:t>AMC 8, 2017, Problem 24</a:t>
            </a:r>
            <a:endParaRPr lang="zh-CN" altLang="zh-CN" sz="1800" dirty="0"/>
          </a:p>
          <a:p>
            <a:r>
              <a:rPr lang="zh-CN" altLang="zh-CN" sz="1800" dirty="0"/>
              <a:t>Mrs. Sanders has three grandchildren, who call her regularly. One calls her every three days, one calls her every four days, and one calls her every five days. All three called her on December </a:t>
            </a:r>
            <a:r>
              <a:rPr lang="en-US" altLang="zh-CN" sz="1800" dirty="0"/>
              <a:t>31, 2016.</a:t>
            </a:r>
            <a:r>
              <a:rPr lang="zh-CN" altLang="zh-CN" sz="1800" dirty="0"/>
              <a:t> On how many days during the next year did she not receive a phone call from any of her grandchildren?</a:t>
            </a:r>
          </a:p>
        </p:txBody>
      </p:sp>
    </p:spTree>
    <p:extLst>
      <p:ext uri="{BB962C8B-B14F-4D97-AF65-F5344CB8AC3E}">
        <p14:creationId xmlns:p14="http://schemas.microsoft.com/office/powerpoint/2010/main" val="4042471904"/>
      </p:ext>
    </p:extLst>
  </p:cSld>
  <p:clrMapOvr>
    <a:masterClrMapping/>
  </p:clrMapOvr>
</p:sld>
</file>

<file path=ppt/theme/theme1.xml><?xml version="1.0" encoding="utf-8"?>
<a:theme xmlns:a="http://schemas.openxmlformats.org/drawingml/2006/main" name="切片">
  <a:themeElements>
    <a:clrScheme name="切片">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切片">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切片">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415</TotalTime>
  <Words>877</Words>
  <Application>Microsoft Office PowerPoint</Application>
  <PresentationFormat>宽屏</PresentationFormat>
  <Paragraphs>46</Paragraphs>
  <Slides>14</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Arial</vt:lpstr>
      <vt:lpstr>Cambria Math</vt:lpstr>
      <vt:lpstr>Century Gothic</vt:lpstr>
      <vt:lpstr>Wingdings 3</vt:lpstr>
      <vt:lpstr>切片</vt:lpstr>
      <vt:lpstr>数论Number theory</vt:lpstr>
      <vt:lpstr>最小公倍数</vt:lpstr>
      <vt:lpstr>最大公因数</vt:lpstr>
      <vt:lpstr>题目</vt:lpstr>
      <vt:lpstr>重要的结论：LCM*GCD</vt:lpstr>
      <vt:lpstr>进制</vt:lpstr>
      <vt:lpstr>题目</vt:lpstr>
      <vt:lpstr>数组中的特殊值</vt:lpstr>
      <vt:lpstr>题目</vt:lpstr>
      <vt:lpstr>综合题目（数论）</vt:lpstr>
      <vt:lpstr>续</vt:lpstr>
      <vt:lpstr>续</vt:lpstr>
      <vt:lpstr>续（逻辑题）</vt:lpstr>
      <vt:lpstr>课后作业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Brian Yang</dc:creator>
  <cp:lastModifiedBy>Brian Yang</cp:lastModifiedBy>
  <cp:revision>4</cp:revision>
  <dcterms:created xsi:type="dcterms:W3CDTF">2026-06-15T16:44:07Z</dcterms:created>
  <dcterms:modified xsi:type="dcterms:W3CDTF">2026-06-15T23:40:06Z</dcterms:modified>
</cp:coreProperties>
</file>