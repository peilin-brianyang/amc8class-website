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57" r:id="rId5"/>
    <p:sldId id="258" r:id="rId6"/>
    <p:sldId id="263" r:id="rId7"/>
    <p:sldId id="262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8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1:17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24575,'1'0'0,"1"-2"0,0-1 0,2 0 0,0 0 0,1-2 0,1 0 0,2-2 0,2-1 0,0 0 0,0-1 0,0 1 0,-1 0 0,1 1 0,-1 1 0,-1 1 0,-2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1:18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0 24575,'-35'22'0,"10"-6"0,-37 30 0,60-44 0,-1 1 0,1 0 0,0 0 0,0 0 0,0 0 0,-2 6 0,-10 13 0,7-12-1365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1:27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1 24575,'-2'1'0,"0"0"0,0 0 0,1 1 0,-1-1 0,0 1 0,1 0 0,-3 2 0,0 1 0,-66 53 0,61-50 0,0 1 0,1 0 0,0 1 0,-12 18 0,4-5 0,13-18 33,0 1 1,-1 0-1,-3 10 0,-4 10-1531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1:32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0 294 24575,'1'-2'0,"0"0"0,0 0 0,0 0 0,0 0 0,0 0 0,0 0 0,1 0 0,-1 0 0,0 0 0,1 1 0,0-1 0,2-2 0,2-2 0,117-133 0,-25 18-1365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1:34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1 340 22982,'295'-340'0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1:36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1 441 24575,'1'-4'0,"-1"1"0,1-1 0,1 1 0,-1 0 0,0-1 0,1 1 0,-1 0 0,1 0 0,3-4 0,4-7 0,66-145 0,-25 53 0,-36 77 0,2 1 0,27-37 0,-41 63-1365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1:49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0 490 23695,'208'-489'0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1:51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1 549 24575,'0'-13'0,"2"1"0,5-23 0,-2 8 0,-2 16 0,0 1 0,1 0 0,0 0 0,9-17 0,4-7 0,17-66 0,-20 55 0,6-40 0,-12 48 0,-6 30 0,0 0 0,1 0 0,0 0 0,1 1 0,4-8 0,6-10 0,-9 13-1365,-1 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1:54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24012,'-203'701'0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02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0 761 24575,'5'-25'0,"120"-512"0,-119 522 0,0 0 0,1 1 0,12-18 0,3-8 0,13-32-1365,-30 62-5461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03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0 24575,'-1'19'0,"-1"-1"0,-1 0 0,-7 25 0,1-6 0,-7 32 0,-9 56 0,15-52 0,-6 69 0,15-56 79,2-42-1523,-1-38-5382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05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 24575,'-1'16'0,"-1"1"0,0 0 0,-7 22 0,2-9 0,-9 48 0,-38 162 0,33-127 0,13-59 0,5-44-1365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07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23298,'-75'578'0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10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24575,'-9'455'0,"18"-345"-1365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11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 24404,'-93'547'0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14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24063,'-44'494'0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17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24575,'-1'23'0,"-1"-1"0,-8 32 0,5-28 0,-25 117 0,26-119 0,-2 34 0,2-7 0,-4-5 38,5-30-505,0 1-1,0 22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21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 23619,'-136'542'0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23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22663,'-124'432'0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29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0 379 22964,'58'-379'0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38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0 357 24575,'1'-47'0,"2"-1"0,1 1 0,3 0 0,15-55 0,-20 96 0,0 0 0,1 0 0,0 0 0,4-6 0,4-7 0,-4 9-1365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41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0 331 23380,'66'-330'0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43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24575,'1'59'0,"-2"63"0,-1-107 0,-1 1 0,-4 15 0,-2 12 0,5 9-1365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45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24575,'-9'135'0,"14"-28"0,-4-102-1365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53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0 24575,'-4'1'0,"1"0"0,0-1 0,0 1 0,-1 0 0,1 1 0,0-1 0,0 1 0,0-1 0,-3 4 0,-15 5 0,10-5 0,0 0 0,0 0 0,1 1 0,-13 9 0,15-9 0,-25 21 0,27-21 0,0-1 0,0 0 0,0 0 0,0 0 0,-10 4 0,0 0 0,1 0 0,-19 15 0,-11 6 0,29-19 0,1 1 0,0 0 0,-16 19 0,10-12 0,5-5 0,-2-1 0,0-1 0,0 0 0,-1-1 0,-28 11 0,29-14 0,9-3 0,1-1 0,-1-1 0,0 0 0,-10 2 0,14-3 0,1-1 0,-1 0 0,1 1 0,-1 0 0,1 0 0,0 0 0,0 1 0,0-1 0,-4 4 0,-7 5 0,5-6 0,8-4 0,0 0 0,0 0 0,0 0 0,0 0 0,0 1 0,0-1 0,-2 3 0,23-7 0,-12 0 0,-1-1 0,1 1 0,-1-1 0,0 0 0,1-1 0,-2 0 0,1 0 0,7-8 0,13-11 0,-11 14 0,-1 0 0,2 2 0,-1 0 0,1 0 0,0 2 0,25-7 0,-30 8 0,0 1 0,9-7 0,15-5 0,-2-2 0,-41 33 0,1-7 0,0-1 0,-1 0 0,0-1 0,0 1 0,0-1 0,-1-1 0,-12 6 0,-8 2 0,-31 10 0,33-14 0,17-5 0,1 1 0,-17 11 0,15-8 0,-2 2 0,0 0 0,1 2 0,1-1 0,0 1 0,0 1 0,-9 16 0,-1-2 0,18-22 0,4-4 0,11-7 0,17-15 0,-5 3 0,-16 13 0,0-2 0,0 1 0,14-15 0,-22 20 0,0 1 0,0 0 0,0 0 0,1 0 0,-1 0 0,0 0 0,0 0 0,0 0 0,0-1 0,0 1 0,0 0 0,0 0 0,0 0 0,0 0 0,0 0 0,0-1 0,0 1 0,0 0 0,0 0 0,0 0 0,0 0 0,0-1 0,0 1 0,0 0 0,0 0 0,0 0 0,0 0 0,0 0 0,0-1 0,0 1 0,0 0 0,0 0 0,0 0 0,0 0 0,0 0 0,0-1 0,0 1 0,-1 0 0,1 0 0,0 0 0,0 0 0,0 0 0,0 0 0,0-1 0,-11-1 0,-11 1 0,16 2 0,1 0 0,-1 1 0,1 0 0,-1 0 0,1 0 0,-1 0 0,1 1 0,0 0 0,0 0 0,0 0 0,-7 7 0,-16 9 0,9-8 0,-1 1 0,0 0 0,-25 20 0,34-19 0,-3 1 0,69-61 0,-33 34 0,-14 8 0,-21 10 0,-28 8 0,-28 12 0,60-22 0,0 2 0,0 0 0,0 0 0,-15 12 0,21-14-1365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56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44 24575,'-6'1'0,"-1"0"0,1 1 0,0-1 0,-1 1 0,1 0 0,-10 6 0,-3 0 0,-67 25 0,86-33 0,0 0 0,0 0 0,0 0 0,0 0 0,0 0 0,0 0 0,0 0 0,0 0 0,0 0 0,0 0 0,0 0 0,0 0 0,0 0 0,-1 0 0,1 0 0,0 0 0,0 0 0,0 0 0,0 0 0,0 0 0,0 0 0,0 0 0,0 0 0,0 0 0,0 0 0,0 0 0,0 0 0,-1 0 0,1 0 0,0 0 0,0 0 0,0 0 0,0 0 0,0 0 0,0 0 0,0 0 0,0 0 0,0 0 0,0 0 0,0 0 0,0 0 0,0 0 0,0 0 0,0-1 0,0 1 0,0 0 0,0 0 0,0 0 0,0 0 0,0 0 0,0 0 0,-1 0 0,3-6 0,4-6 0,-2 7 0,-1 0 0,1 1 0,0-1 0,0 1 0,1 0 0,-1 0 0,1 1 0,0-1 0,0 1 0,7-4 0,-1 3 0,0 0 0,0 0 0,0 1 0,17-2 0,42-10 0,-65 16 0,-5 0 0,-10 5 0,-16 6 0,-154 49 0,157-54 0,8-3 0,1 1 0,-25 11 0,32-11 0,1 0 0,0 1 0,1-1 0,-1 1 0,1 0 0,-8 13 0,5-8 0,7-11-56,-5 10 239,6-10-221,0 0 0,0 1-1,0-1 1,0 0 0,0 0 0,0 1-1,0-1 1,0 0 0,0 0 0,0 1-1,0-1 1,0 0 0,0 0 0,0 1-1,0-1 1,0 0 0,0 0 0,0 1-1,0-1 1,0 0 0,0 0-1,0 1 1,0-1 0,1 0 0,-1 0-1,0 0 1,0 1 0,0-1 0,0 0-1,1 0 1,-1 0 0,0 1 0,0-1-1,0 0 1,1 0 0,-1 0 0,0 0-1,0 0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57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24575,'5'5'0,"1"0"0,1 0 0,-1-1 0,9 5 0,4 2 0,-9-4-341,0 1 0,-1 0-1,14 15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2:59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24575,'4'50'0,"-2"-35"0,1 22 0,-3 8 0,-1 31 0,1-75-20,0-1-8,0 0-1,0 0 0,0 0 1,0 0-1,1 0 0,-1 0 1,0 0-1,0 0 1,0 1-1,0-1 0,0 0 1,0 0-1,0 0 0,-1 0 1,1 0-1,0 0 1,0 0-1,0 0 0,0 1 1,0-1-1,0 0 0,0 0 1,0 0-1,0 0 1,0 0-1,0 0 0,0 0 1,0 0-1,0 0 0,0 0 1,0 0-1,-1 1 1,1-1-1,0 0 0,0 0 1,0 0-1,0 0 1,0 0-1,0 0 0,0 0 1,0 0-1,-1 0 0,1 0 1,0 0-1,0 0 1,0 0-1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3:01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24575,'0'233'-1365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9:43:03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24575,'0'2'0,"-1"0"0,1 0 0,-1 0 0,0 0 0,0-1 0,1 1 0,-1 0 0,0 0 0,0-1 0,-1 1 0,1-1 0,-2 3 0,-8 12 0,7-8 15,2 1 0,-1 0-1,1 0 1,0 0 0,0 12-1,1 48-752,1-54 23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0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71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48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59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26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58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355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315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673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29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510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942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06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940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740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927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035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4E7479E-BC4B-49D3-AA64-88D52C40B3C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9014C78-2C6E-4973-9980-DDD20D318D4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7C29B31-29DB-671C-294F-33BC58DD669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>
                        <a14:foregroundMark x1="28500" y1="17833" x2="77000" y2="16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973" y="0"/>
            <a:ext cx="983027" cy="98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8936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10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A2CA4-A871-0B03-C5A6-6FAF75B723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几何</a:t>
            </a:r>
            <a:r>
              <a:rPr lang="en-US" altLang="zh-CN" dirty="0"/>
              <a:t>Geometry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F9AE61-B03A-66D8-3121-8EF32E6B01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∠，线与线，基础图形，三角形</a:t>
            </a:r>
          </a:p>
        </p:txBody>
      </p:sp>
    </p:spTree>
    <p:extLst>
      <p:ext uri="{BB962C8B-B14F-4D97-AF65-F5344CB8AC3E}">
        <p14:creationId xmlns:p14="http://schemas.microsoft.com/office/powerpoint/2010/main" val="3937753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EC78C-FCDE-0EC4-CC25-D221F024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310909-1D68-BAE1-4458-5FD92BDC6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锐角，直角，钝角</a:t>
            </a:r>
            <a:endParaRPr lang="en-US" altLang="zh-CN" dirty="0"/>
          </a:p>
          <a:p>
            <a:r>
              <a:rPr lang="zh-CN" altLang="en-US" dirty="0"/>
              <a:t>互余，互补</a:t>
            </a:r>
            <a:endParaRPr lang="en-US" altLang="zh-CN" dirty="0"/>
          </a:p>
          <a:p>
            <a:r>
              <a:rPr lang="zh-CN" altLang="en-US" dirty="0"/>
              <a:t>零角，平角，劣角</a:t>
            </a:r>
            <a:r>
              <a:rPr lang="en-US" altLang="zh-CN" dirty="0"/>
              <a:t>&lt;180</a:t>
            </a:r>
            <a:r>
              <a:rPr lang="zh-CN" altLang="en-US" dirty="0"/>
              <a:t>，优角</a:t>
            </a:r>
            <a:r>
              <a:rPr lang="en-US" altLang="zh-CN" dirty="0"/>
              <a:t>&gt;180</a:t>
            </a:r>
          </a:p>
          <a:p>
            <a:r>
              <a:rPr lang="zh-CN" altLang="en-US" dirty="0"/>
              <a:t>角平分线</a:t>
            </a:r>
          </a:p>
        </p:txBody>
      </p:sp>
    </p:spTree>
    <p:extLst>
      <p:ext uri="{BB962C8B-B14F-4D97-AF65-F5344CB8AC3E}">
        <p14:creationId xmlns:p14="http://schemas.microsoft.com/office/powerpoint/2010/main" val="79062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8A146-2B57-ED69-89C6-6FF4083F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898D3C-1C28-5516-A66E-F8E56898F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什么是直线？</a:t>
            </a:r>
            <a:endParaRPr lang="en-US" altLang="zh-CN" dirty="0"/>
          </a:p>
          <a:p>
            <a:r>
              <a:rPr lang="zh-CN" altLang="en-US" dirty="0"/>
              <a:t>平行线</a:t>
            </a:r>
            <a:endParaRPr lang="en-US" altLang="zh-CN" dirty="0"/>
          </a:p>
          <a:p>
            <a:r>
              <a:rPr lang="zh-CN" altLang="en-US" dirty="0"/>
              <a:t>内错角，同位角，同旁内角</a:t>
            </a:r>
          </a:p>
        </p:txBody>
      </p:sp>
    </p:spTree>
    <p:extLst>
      <p:ext uri="{BB962C8B-B14F-4D97-AF65-F5344CB8AC3E}">
        <p14:creationId xmlns:p14="http://schemas.microsoft.com/office/powerpoint/2010/main" val="1629191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FEDD9-1BC5-6274-FC3D-92E5DA48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基础的图形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F1E783-4FC4-B6C5-A6EF-439CD1C56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三角形</a:t>
            </a:r>
            <a:r>
              <a:rPr lang="en-US" altLang="zh-CN" dirty="0"/>
              <a:t>triangle</a:t>
            </a:r>
          </a:p>
          <a:p>
            <a:r>
              <a:rPr lang="zh-CN" altLang="en-US" dirty="0"/>
              <a:t>四边形</a:t>
            </a:r>
            <a:r>
              <a:rPr lang="en-US" altLang="zh-CN" dirty="0"/>
              <a:t>quadrilateral</a:t>
            </a:r>
          </a:p>
          <a:p>
            <a:pPr lvl="1"/>
            <a:r>
              <a:rPr lang="zh-CN" altLang="en-US" dirty="0"/>
              <a:t>梯形</a:t>
            </a:r>
            <a:r>
              <a:rPr lang="en-US" altLang="zh-CN" dirty="0"/>
              <a:t>trapezoid</a:t>
            </a:r>
          </a:p>
          <a:p>
            <a:pPr lvl="1"/>
            <a:r>
              <a:rPr lang="zh-CN" altLang="en-US" dirty="0"/>
              <a:t>平行四边形</a:t>
            </a:r>
            <a:r>
              <a:rPr lang="en-US" altLang="zh-CN" dirty="0"/>
              <a:t>rectangle</a:t>
            </a:r>
          </a:p>
          <a:p>
            <a:pPr lvl="1"/>
            <a:r>
              <a:rPr lang="zh-CN" altLang="en-US" dirty="0"/>
              <a:t>菱形</a:t>
            </a:r>
            <a:r>
              <a:rPr lang="en-US" altLang="zh-CN" dirty="0"/>
              <a:t>rhombus</a:t>
            </a:r>
          </a:p>
          <a:p>
            <a:pPr lvl="1"/>
            <a:r>
              <a:rPr lang="zh-CN" altLang="en-US" dirty="0"/>
              <a:t>正方形</a:t>
            </a:r>
            <a:r>
              <a:rPr lang="en-US" altLang="zh-CN" dirty="0"/>
              <a:t>square</a:t>
            </a:r>
          </a:p>
          <a:p>
            <a:r>
              <a:rPr lang="zh-CN" altLang="en-US" dirty="0"/>
              <a:t>正多边形</a:t>
            </a:r>
          </a:p>
        </p:txBody>
      </p:sp>
    </p:spTree>
    <p:extLst>
      <p:ext uri="{BB962C8B-B14F-4D97-AF65-F5344CB8AC3E}">
        <p14:creationId xmlns:p14="http://schemas.microsoft.com/office/powerpoint/2010/main" val="424528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160F5-12DE-E795-4582-B7A2649E6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多边形内角和与外角和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51E04F-166A-3CC7-C632-7E5E02F9A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n-</a:t>
            </a:r>
            <a:r>
              <a:rPr lang="zh-CN" altLang="en-US" dirty="0"/>
              <a:t>边形</a:t>
            </a:r>
            <a:endParaRPr lang="en-US" altLang="zh-CN" dirty="0"/>
          </a:p>
          <a:p>
            <a:pPr lvl="1"/>
            <a:r>
              <a:rPr lang="zh-CN" altLang="en-US" dirty="0"/>
              <a:t>外角和？内角和？</a:t>
            </a:r>
            <a:endParaRPr lang="en-US" altLang="zh-CN" dirty="0"/>
          </a:p>
          <a:p>
            <a:r>
              <a:rPr lang="zh-CN" altLang="en-US" dirty="0"/>
              <a:t>三角形内角和</a:t>
            </a:r>
          </a:p>
        </p:txBody>
      </p:sp>
    </p:spTree>
    <p:extLst>
      <p:ext uri="{BB962C8B-B14F-4D97-AF65-F5344CB8AC3E}">
        <p14:creationId xmlns:p14="http://schemas.microsoft.com/office/powerpoint/2010/main" val="2133983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329F6-262D-D416-5F7F-55B37BDB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基础面积公式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2CBD24-C8B3-F020-FF09-2E185B905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三角形</a:t>
            </a:r>
            <a:endParaRPr lang="en-US" altLang="zh-CN" dirty="0"/>
          </a:p>
          <a:p>
            <a:r>
              <a:rPr lang="zh-CN" altLang="en-US" dirty="0"/>
              <a:t>简单四边形</a:t>
            </a:r>
          </a:p>
        </p:txBody>
      </p:sp>
    </p:spTree>
    <p:extLst>
      <p:ext uri="{BB962C8B-B14F-4D97-AF65-F5344CB8AC3E}">
        <p14:creationId xmlns:p14="http://schemas.microsoft.com/office/powerpoint/2010/main" val="263016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BB482-488B-BE9A-6455-7304106D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同底等高模型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31F766-050A-4819-88FA-E2E3AEB8435F}"/>
              </a:ext>
            </a:extLst>
          </p:cNvPr>
          <p:cNvSpPr/>
          <p:nvPr/>
        </p:nvSpPr>
        <p:spPr>
          <a:xfrm>
            <a:off x="6414247" y="2985247"/>
            <a:ext cx="954741" cy="954741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273B81-5440-2C39-F0C5-4F8609F7C336}"/>
              </a:ext>
            </a:extLst>
          </p:cNvPr>
          <p:cNvSpPr/>
          <p:nvPr/>
        </p:nvSpPr>
        <p:spPr>
          <a:xfrm>
            <a:off x="7368988" y="1240817"/>
            <a:ext cx="2699171" cy="2699171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678E29B-CD9A-38F4-0927-30E3737CF7D6}"/>
              </a:ext>
            </a:extLst>
          </p:cNvPr>
          <p:cNvCxnSpPr/>
          <p:nvPr/>
        </p:nvCxnSpPr>
        <p:spPr>
          <a:xfrm flipH="1">
            <a:off x="6414247" y="1240817"/>
            <a:ext cx="3653912" cy="269917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2B377FF-9BB7-16CE-B5D1-0D857AC3EED8}"/>
              </a:ext>
            </a:extLst>
          </p:cNvPr>
          <p:cNvCxnSpPr/>
          <p:nvPr/>
        </p:nvCxnSpPr>
        <p:spPr>
          <a:xfrm>
            <a:off x="6414247" y="2985247"/>
            <a:ext cx="954741" cy="24204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725078B-08BD-FE0E-D7F0-95BECCB5A0D2}"/>
              </a:ext>
            </a:extLst>
          </p:cNvPr>
          <p:cNvCxnSpPr>
            <a:cxnSpLocks/>
          </p:cNvCxnSpPr>
          <p:nvPr/>
        </p:nvCxnSpPr>
        <p:spPr>
          <a:xfrm flipV="1">
            <a:off x="7368988" y="1240817"/>
            <a:ext cx="2699171" cy="174443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FC71685-BA94-534D-AA26-97655A062DB9}"/>
              </a:ext>
            </a:extLst>
          </p:cNvPr>
          <p:cNvGrpSpPr/>
          <p:nvPr/>
        </p:nvGrpSpPr>
        <p:grpSpPr>
          <a:xfrm>
            <a:off x="6648355" y="2998860"/>
            <a:ext cx="136800" cy="64080"/>
            <a:chOff x="6648355" y="2998860"/>
            <a:chExt cx="13680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74F8F14A-B8E3-8C5F-FAAE-974C3C8A8329}"/>
                    </a:ext>
                  </a:extLst>
                </p14:cNvPr>
                <p14:cNvContentPartPr/>
                <p14:nvPr/>
              </p14:nvContentPartPr>
              <p14:xfrm>
                <a:off x="6648355" y="2998860"/>
                <a:ext cx="41400" cy="3348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74F8F14A-B8E3-8C5F-FAAE-974C3C8A83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42235" y="2992740"/>
                  <a:ext cx="53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332C5EB6-6C0F-55F9-D4B3-36DE94817FC3}"/>
                    </a:ext>
                  </a:extLst>
                </p14:cNvPr>
                <p14:cNvContentPartPr/>
                <p14:nvPr/>
              </p14:nvContentPartPr>
              <p14:xfrm>
                <a:off x="6727195" y="3011460"/>
                <a:ext cx="57960" cy="5148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332C5EB6-6C0F-55F9-D4B3-36DE94817FC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21075" y="3005340"/>
                  <a:ext cx="7020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BE810361-233A-ED32-1F36-BEFA083537A7}"/>
                  </a:ext>
                </a:extLst>
              </p14:cNvPr>
              <p14:cNvContentPartPr/>
              <p14:nvPr/>
            </p14:nvContentPartPr>
            <p14:xfrm>
              <a:off x="6816835" y="2993820"/>
              <a:ext cx="68040" cy="8064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BE810361-233A-ED32-1F36-BEFA083537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10715" y="2987700"/>
                <a:ext cx="802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1673193E-9184-3D02-4713-F43362732093}"/>
                  </a:ext>
                </a:extLst>
              </p14:cNvPr>
              <p14:cNvContentPartPr/>
              <p14:nvPr/>
            </p14:nvContentPartPr>
            <p14:xfrm>
              <a:off x="6884875" y="2995980"/>
              <a:ext cx="88920" cy="10620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1673193E-9184-3D02-4713-F433627320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78755" y="2989860"/>
                <a:ext cx="1011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CBC79164-0541-AEC7-4BD7-69B03655818E}"/>
                  </a:ext>
                </a:extLst>
              </p14:cNvPr>
              <p14:cNvContentPartPr/>
              <p14:nvPr/>
            </p14:nvContentPartPr>
            <p14:xfrm>
              <a:off x="6952915" y="3004980"/>
              <a:ext cx="106920" cy="1227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CBC79164-0541-AEC7-4BD7-69B03655818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46795" y="2998860"/>
                <a:ext cx="1191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6759BCC1-6131-5ADD-9E9F-64A21A2C9875}"/>
                  </a:ext>
                </a:extLst>
              </p14:cNvPr>
              <p14:cNvContentPartPr/>
              <p14:nvPr/>
            </p14:nvContentPartPr>
            <p14:xfrm>
              <a:off x="7057675" y="2987700"/>
              <a:ext cx="81360" cy="15876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6759BCC1-6131-5ADD-9E9F-64A21A2C987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51555" y="2981580"/>
                <a:ext cx="936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3B54FEA3-8E39-F298-AF79-076FEDF36C8C}"/>
                  </a:ext>
                </a:extLst>
              </p14:cNvPr>
              <p14:cNvContentPartPr/>
              <p14:nvPr/>
            </p14:nvContentPartPr>
            <p14:xfrm>
              <a:off x="7156315" y="2993820"/>
              <a:ext cx="75240" cy="17676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3B54FEA3-8E39-F298-AF79-076FEDF36C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50195" y="2987700"/>
                <a:ext cx="874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8E571F35-013E-5D3E-9552-40B111E7BA03}"/>
                  </a:ext>
                </a:extLst>
              </p14:cNvPr>
              <p14:cNvContentPartPr/>
              <p14:nvPr/>
            </p14:nvContentPartPr>
            <p14:xfrm>
              <a:off x="7265755" y="2990220"/>
              <a:ext cx="64800" cy="197640"/>
            </p14:xfrm>
          </p:contentPart>
        </mc:Choice>
        <mc:Fallback xmlns=""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8E571F35-013E-5D3E-9552-40B111E7BA0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59635" y="2984100"/>
                <a:ext cx="770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58337B04-A2E3-FDAC-86C5-45933038E465}"/>
                  </a:ext>
                </a:extLst>
              </p14:cNvPr>
              <p14:cNvContentPartPr/>
              <p14:nvPr/>
            </p14:nvContentPartPr>
            <p14:xfrm>
              <a:off x="7357915" y="2965380"/>
              <a:ext cx="73440" cy="25272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58337B04-A2E3-FDAC-86C5-45933038E4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351795" y="2959260"/>
                <a:ext cx="85680" cy="26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组合 43">
            <a:extLst>
              <a:ext uri="{FF2B5EF4-FFF2-40B4-BE49-F238E27FC236}">
                <a16:creationId xmlns:a16="http://schemas.microsoft.com/office/drawing/2014/main" id="{1C93AD0D-8181-E945-5890-94C1189DC04B}"/>
              </a:ext>
            </a:extLst>
          </p:cNvPr>
          <p:cNvGrpSpPr/>
          <p:nvPr/>
        </p:nvGrpSpPr>
        <p:grpSpPr>
          <a:xfrm>
            <a:off x="7451635" y="2787420"/>
            <a:ext cx="255960" cy="376560"/>
            <a:chOff x="7451635" y="2787420"/>
            <a:chExt cx="255960" cy="3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3CC714D2-6DCA-5CE2-06A2-D59F7E33F515}"/>
                    </a:ext>
                  </a:extLst>
                </p14:cNvPr>
                <p14:cNvContentPartPr/>
                <p14:nvPr/>
              </p14:nvContentPartPr>
              <p14:xfrm>
                <a:off x="7451635" y="2890020"/>
                <a:ext cx="83160" cy="27396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3CC714D2-6DCA-5CE2-06A2-D59F7E33F51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45515" y="2883900"/>
                  <a:ext cx="954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16513C0C-9137-916E-32A8-D70F75A96D92}"/>
                    </a:ext>
                  </a:extLst>
                </p14:cNvPr>
                <p14:cNvContentPartPr/>
                <p14:nvPr/>
              </p14:nvContentPartPr>
              <p14:xfrm>
                <a:off x="7568635" y="2852580"/>
                <a:ext cx="33840" cy="24516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16513C0C-9137-916E-32A8-D70F75A96D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62515" y="2846460"/>
                  <a:ext cx="46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45939221-EB6C-00D4-5F25-85570FD95980}"/>
                    </a:ext>
                  </a:extLst>
                </p14:cNvPr>
                <p14:cNvContentPartPr/>
                <p14:nvPr/>
              </p14:nvContentPartPr>
              <p14:xfrm>
                <a:off x="7662955" y="2787420"/>
                <a:ext cx="44640" cy="22140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45939221-EB6C-00D4-5F25-85570FD959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56835" y="2781300"/>
                  <a:ext cx="56880" cy="23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85FCFDF4-FEA9-FD18-D671-2AB1F09DDBF1}"/>
                  </a:ext>
                </a:extLst>
              </p14:cNvPr>
              <p14:cNvContentPartPr/>
              <p14:nvPr/>
            </p14:nvContentPartPr>
            <p14:xfrm>
              <a:off x="7762675" y="2719380"/>
              <a:ext cx="27360" cy="208440"/>
            </p14:xfrm>
          </p:contentPart>
        </mc:Choice>
        <mc:Fallback xmlns=""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85FCFDF4-FEA9-FD18-D671-2AB1F09DDBF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56555" y="2713260"/>
                <a:ext cx="396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2D1E0389-A3EC-183D-65E7-6FAD3E262E01}"/>
                  </a:ext>
                </a:extLst>
              </p14:cNvPr>
              <p14:cNvContentPartPr/>
              <p14:nvPr/>
            </p14:nvContentPartPr>
            <p14:xfrm>
              <a:off x="7853035" y="2676180"/>
              <a:ext cx="3600" cy="203760"/>
            </p14:xfrm>
          </p:contentPart>
        </mc:Choice>
        <mc:Fallback xmlns=""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2D1E0389-A3EC-183D-65E7-6FAD3E262E0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46915" y="2670060"/>
                <a:ext cx="15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2BD90F47-7699-55B3-48EB-A9B14393C6CA}"/>
                  </a:ext>
                </a:extLst>
              </p14:cNvPr>
              <p14:cNvContentPartPr/>
              <p14:nvPr/>
            </p14:nvContentPartPr>
            <p14:xfrm>
              <a:off x="7922875" y="2609580"/>
              <a:ext cx="33840" cy="197280"/>
            </p14:xfrm>
          </p:contentPart>
        </mc:Choice>
        <mc:Fallback xmlns=""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2BD90F47-7699-55B3-48EB-A9B14393C6C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916755" y="2603460"/>
                <a:ext cx="460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E9AAC5DA-F354-7EF4-94B1-2C0539F8869B}"/>
                  </a:ext>
                </a:extLst>
              </p14:cNvPr>
              <p14:cNvContentPartPr/>
              <p14:nvPr/>
            </p14:nvContentPartPr>
            <p14:xfrm>
              <a:off x="8034115" y="2563500"/>
              <a:ext cx="16200" cy="178200"/>
            </p14:xfrm>
          </p:contentPart>
        </mc:Choice>
        <mc:Fallback xmlns=""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E9AAC5DA-F354-7EF4-94B1-2C0539F8869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027995" y="2557380"/>
                <a:ext cx="284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8F02D3CA-CFD0-F501-CA4F-DDA643DFFD85}"/>
                  </a:ext>
                </a:extLst>
              </p14:cNvPr>
              <p14:cNvContentPartPr/>
              <p14:nvPr/>
            </p14:nvContentPartPr>
            <p14:xfrm>
              <a:off x="8124475" y="2487540"/>
              <a:ext cx="29160" cy="186840"/>
            </p14:xfrm>
          </p:contentPart>
        </mc:Choice>
        <mc:Fallback xmlns=""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8F02D3CA-CFD0-F501-CA4F-DDA643DFFD8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18355" y="2481420"/>
                <a:ext cx="414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ADEE7B56-622D-EB9E-73DA-C57DC97B5427}"/>
                  </a:ext>
                </a:extLst>
              </p14:cNvPr>
              <p14:cNvContentPartPr/>
              <p14:nvPr/>
            </p14:nvContentPartPr>
            <p14:xfrm>
              <a:off x="8227795" y="2414340"/>
              <a:ext cx="49680" cy="195840"/>
            </p14:xfrm>
          </p:contentPart>
        </mc:Choice>
        <mc:Fallback xmlns=""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ADEE7B56-622D-EB9E-73DA-C57DC97B542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21675" y="2408220"/>
                <a:ext cx="6192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D782D9FF-2A9E-86E0-499E-6421FBC493D8}"/>
                  </a:ext>
                </a:extLst>
              </p14:cNvPr>
              <p14:cNvContentPartPr/>
              <p14:nvPr/>
            </p14:nvContentPartPr>
            <p14:xfrm>
              <a:off x="8350195" y="2328660"/>
              <a:ext cx="45000" cy="155880"/>
            </p14:xfrm>
          </p:contentPart>
        </mc:Choice>
        <mc:Fallback xmlns=""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D782D9FF-2A9E-86E0-499E-6421FBC493D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344075" y="2322540"/>
                <a:ext cx="572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8F6E405A-74DE-9FC8-E966-7E710FBB1B64}"/>
                  </a:ext>
                </a:extLst>
              </p14:cNvPr>
              <p14:cNvContentPartPr/>
              <p14:nvPr/>
            </p14:nvContentPartPr>
            <p14:xfrm>
              <a:off x="8459635" y="2284380"/>
              <a:ext cx="21240" cy="136800"/>
            </p14:xfrm>
          </p:contentPart>
        </mc:Choice>
        <mc:Fallback xmlns=""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8F6E405A-74DE-9FC8-E966-7E710FBB1B6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453515" y="2278260"/>
                <a:ext cx="334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61D09667-236A-6A06-7949-B2C21618F136}"/>
                  </a:ext>
                </a:extLst>
              </p14:cNvPr>
              <p14:cNvContentPartPr/>
              <p14:nvPr/>
            </p14:nvContentPartPr>
            <p14:xfrm>
              <a:off x="8556475" y="2214540"/>
              <a:ext cx="26280" cy="128880"/>
            </p14:xfrm>
          </p:contentPart>
        </mc:Choice>
        <mc:Fallback xmlns=""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61D09667-236A-6A06-7949-B2C21618F13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550355" y="2208420"/>
                <a:ext cx="385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F14115FF-68A3-6B1D-561C-56171EC431B5}"/>
                  </a:ext>
                </a:extLst>
              </p14:cNvPr>
              <p14:cNvContentPartPr/>
              <p14:nvPr/>
            </p14:nvContentPartPr>
            <p14:xfrm>
              <a:off x="8656555" y="2158740"/>
              <a:ext cx="24120" cy="119520"/>
            </p14:xfrm>
          </p:contentPart>
        </mc:Choice>
        <mc:Fallback xmlns=""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F14115FF-68A3-6B1D-561C-56171EC431B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650435" y="2152620"/>
                <a:ext cx="36360" cy="13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组合 68">
            <a:extLst>
              <a:ext uri="{FF2B5EF4-FFF2-40B4-BE49-F238E27FC236}">
                <a16:creationId xmlns:a16="http://schemas.microsoft.com/office/drawing/2014/main" id="{8D1A7FAE-6BAD-E0D0-51E3-5D4174E7E2C0}"/>
              </a:ext>
            </a:extLst>
          </p:cNvPr>
          <p:cNvGrpSpPr/>
          <p:nvPr/>
        </p:nvGrpSpPr>
        <p:grpSpPr>
          <a:xfrm>
            <a:off x="8739715" y="2044620"/>
            <a:ext cx="106200" cy="178920"/>
            <a:chOff x="8739715" y="2044620"/>
            <a:chExt cx="10620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4AEDF2B2-483C-BDBC-F0B9-78646538F842}"/>
                    </a:ext>
                  </a:extLst>
                </p14:cNvPr>
                <p14:cNvContentPartPr/>
                <p14:nvPr/>
              </p14:nvContentPartPr>
              <p14:xfrm>
                <a:off x="8739715" y="2101500"/>
                <a:ext cx="9720" cy="122040"/>
              </p14:xfrm>
            </p:contentPart>
          </mc:Choice>
          <mc:Fallback xmlns=""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4AEDF2B2-483C-BDBC-F0B9-78646538F84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33595" y="2095380"/>
                  <a:ext cx="21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3163957D-D4FA-4DC4-2ECA-5F624FC83B48}"/>
                    </a:ext>
                  </a:extLst>
                </p14:cNvPr>
                <p14:cNvContentPartPr/>
                <p14:nvPr/>
              </p14:nvContentPartPr>
              <p14:xfrm>
                <a:off x="8842315" y="2044620"/>
                <a:ext cx="3600" cy="88920"/>
              </p14:xfrm>
            </p:contentPart>
          </mc:Choice>
          <mc:Fallback xmlns=""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3163957D-D4FA-4DC4-2ECA-5F624FC83B4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36195" y="2038500"/>
                  <a:ext cx="1584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621B60F-9AB0-EE02-D415-FE58DCFF9844}"/>
              </a:ext>
            </a:extLst>
          </p:cNvPr>
          <p:cNvGrpSpPr/>
          <p:nvPr/>
        </p:nvGrpSpPr>
        <p:grpSpPr>
          <a:xfrm>
            <a:off x="8948515" y="1506420"/>
            <a:ext cx="744840" cy="561600"/>
            <a:chOff x="8948515" y="1506420"/>
            <a:chExt cx="74484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67C31E50-BF3B-60AF-097C-ABC8E07A0CFE}"/>
                    </a:ext>
                  </a:extLst>
                </p14:cNvPr>
                <p14:cNvContentPartPr/>
                <p14:nvPr/>
              </p14:nvContentPartPr>
              <p14:xfrm>
                <a:off x="9338395" y="1506420"/>
                <a:ext cx="354960" cy="218880"/>
              </p14:xfrm>
            </p:contentPart>
          </mc:Choice>
          <mc:Fallback xmlns=""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67C31E50-BF3B-60AF-097C-ABC8E07A0C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32275" y="1500300"/>
                  <a:ext cx="3672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82077369-7E63-4632-DC12-8689F9E13C4A}"/>
                    </a:ext>
                  </a:extLst>
                </p14:cNvPr>
                <p14:cNvContentPartPr/>
                <p14:nvPr/>
              </p14:nvContentPartPr>
              <p14:xfrm>
                <a:off x="9326155" y="1692180"/>
                <a:ext cx="133560" cy="70200"/>
              </p14:xfrm>
            </p:contentPart>
          </mc:Choice>
          <mc:Fallback xmlns=""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82077369-7E63-4632-DC12-8689F9E13C4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20035" y="1686060"/>
                  <a:ext cx="145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921C6E87-F00F-567C-C723-79CB3A789D10}"/>
                    </a:ext>
                  </a:extLst>
                </p14:cNvPr>
                <p14:cNvContentPartPr/>
                <p14:nvPr/>
              </p14:nvContentPartPr>
              <p14:xfrm>
                <a:off x="9289795" y="1760220"/>
                <a:ext cx="39960" cy="30960"/>
              </p14:xfrm>
            </p:contentPart>
          </mc:Choice>
          <mc:Fallback xmlns=""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921C6E87-F00F-567C-C723-79CB3A789D1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83675" y="1754100"/>
                  <a:ext cx="522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784B1A4C-DD72-C218-17CD-8E7764CD0DA0}"/>
                    </a:ext>
                  </a:extLst>
                </p14:cNvPr>
                <p14:cNvContentPartPr/>
                <p14:nvPr/>
              </p14:nvContentPartPr>
              <p14:xfrm>
                <a:off x="8948515" y="1985940"/>
                <a:ext cx="3600" cy="82080"/>
              </p14:xfrm>
            </p:contentPart>
          </mc:Choice>
          <mc:Fallback xmlns=""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784B1A4C-DD72-C218-17CD-8E7764CD0DA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42395" y="1979820"/>
                  <a:ext cx="15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AC44A47E-F47A-AC22-DCDF-514EAF7355E0}"/>
                    </a:ext>
                  </a:extLst>
                </p14:cNvPr>
                <p14:cNvContentPartPr/>
                <p14:nvPr/>
              </p14:nvContentPartPr>
              <p14:xfrm>
                <a:off x="9057955" y="1906380"/>
                <a:ext cx="360" cy="84600"/>
              </p14:xfrm>
            </p:contentPart>
          </mc:Choice>
          <mc:Fallback xmlns=""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AC44A47E-F47A-AC22-DCDF-514EAF7355E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51835" y="1900260"/>
                  <a:ext cx="12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39A507B4-3A87-168A-4E2A-D3A392E67D8D}"/>
                    </a:ext>
                  </a:extLst>
                </p14:cNvPr>
                <p14:cNvContentPartPr/>
                <p14:nvPr/>
              </p14:nvContentPartPr>
              <p14:xfrm>
                <a:off x="9164515" y="1831860"/>
                <a:ext cx="14760" cy="68760"/>
              </p14:xfrm>
            </p:contentPart>
          </mc:Choice>
          <mc:Fallback xmlns=""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39A507B4-3A87-168A-4E2A-D3A392E67D8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158395" y="1825740"/>
                  <a:ext cx="27000" cy="81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63588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53D84-F4A5-1CD9-EA86-17CAF94A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CA73D-BC3D-3750-F1E8-741457EAF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全等三角形是两个三角形完全一样</a:t>
            </a:r>
            <a:endParaRPr lang="en-US" altLang="zh-CN" dirty="0"/>
          </a:p>
          <a:p>
            <a:r>
              <a:rPr lang="zh-CN" altLang="en-US" dirty="0"/>
              <a:t>判定？</a:t>
            </a:r>
          </a:p>
        </p:txBody>
      </p:sp>
    </p:spTree>
    <p:extLst>
      <p:ext uri="{BB962C8B-B14F-4D97-AF65-F5344CB8AC3E}">
        <p14:creationId xmlns:p14="http://schemas.microsoft.com/office/powerpoint/2010/main" val="1902030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479FA-F49D-A4CD-F4A2-7DE78FF9E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380965-6133-8612-5156-9C02B92CC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角度相等的三角形对应边长成比例</a:t>
            </a:r>
            <a:endParaRPr lang="en-US" altLang="zh-CN" dirty="0"/>
          </a:p>
          <a:p>
            <a:r>
              <a:rPr lang="zh-CN" altLang="en-US" dirty="0"/>
              <a:t>我们称它们相似。</a:t>
            </a:r>
          </a:p>
        </p:txBody>
      </p:sp>
    </p:spTree>
    <p:extLst>
      <p:ext uri="{BB962C8B-B14F-4D97-AF65-F5344CB8AC3E}">
        <p14:creationId xmlns:p14="http://schemas.microsoft.com/office/powerpoint/2010/main" val="110360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C5DCE-4693-C615-5A5C-A95F40370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相似比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AC4312-C01F-7149-CAF1-7F9D52AB0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相似图形之间有个相似比。这两个图形的所有对应长度都要满足这个比例。</a:t>
            </a:r>
            <a:endParaRPr lang="en-US" altLang="zh-CN" dirty="0"/>
          </a:p>
          <a:p>
            <a:r>
              <a:rPr lang="zh-CN" altLang="en-US" dirty="0"/>
              <a:t>但更有意思的是它们的面积。面积会遵循怎样的比例呢？</a:t>
            </a:r>
          </a:p>
        </p:txBody>
      </p:sp>
    </p:spTree>
    <p:extLst>
      <p:ext uri="{BB962C8B-B14F-4D97-AF65-F5344CB8AC3E}">
        <p14:creationId xmlns:p14="http://schemas.microsoft.com/office/powerpoint/2010/main" val="203705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AF6D1-0051-525E-79AE-6F3B91EC2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一线三等角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B100A-9D52-F995-C927-F01F30C6E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当一条线上出现</a:t>
            </a:r>
            <a:r>
              <a:rPr lang="en-US" altLang="zh-CN" dirty="0"/>
              <a:t>3</a:t>
            </a:r>
            <a:r>
              <a:rPr lang="zh-CN" altLang="en-US" dirty="0"/>
              <a:t>个相等的角，我们称此模型为一线三等角</a:t>
            </a:r>
          </a:p>
        </p:txBody>
      </p:sp>
    </p:spTree>
    <p:extLst>
      <p:ext uri="{BB962C8B-B14F-4D97-AF65-F5344CB8AC3E}">
        <p14:creationId xmlns:p14="http://schemas.microsoft.com/office/powerpoint/2010/main" val="3461285492"/>
      </p:ext>
    </p:extLst>
  </p:cSld>
  <p:clrMapOvr>
    <a:masterClrMapping/>
  </p:clrMapOvr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5511</TotalTime>
  <Words>291</Words>
  <Application>Microsoft Office PowerPoint</Application>
  <PresentationFormat>宽屏</PresentationFormat>
  <Paragraphs>38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切片</vt:lpstr>
      <vt:lpstr>几何Geometry</vt:lpstr>
      <vt:lpstr>∠</vt:lpstr>
      <vt:lpstr>线</vt:lpstr>
      <vt:lpstr>基础的图形</vt:lpstr>
      <vt:lpstr>多边形内角和与外角和</vt:lpstr>
      <vt:lpstr>基础面积公式</vt:lpstr>
      <vt:lpstr>同底等高模型</vt:lpstr>
      <vt:lpstr>全等</vt:lpstr>
      <vt:lpstr>相似</vt:lpstr>
      <vt:lpstr>相似比</vt:lpstr>
      <vt:lpstr>一线三等角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Yang</dc:creator>
  <cp:lastModifiedBy>Brian Yang</cp:lastModifiedBy>
  <cp:revision>7</cp:revision>
  <dcterms:created xsi:type="dcterms:W3CDTF">2026-07-11T09:15:29Z</dcterms:created>
  <dcterms:modified xsi:type="dcterms:W3CDTF">2026-07-15T09:06:24Z</dcterms:modified>
</cp:coreProperties>
</file>